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uturistic, curved, white structure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lose-up of a curved, white, layered pattern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3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lose-up of the edge of white curved stone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Slide Subtitle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0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a curved, white, layered pattern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Close-up of a layered pattern of grey stone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hite ribbed pattern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Angular, futuristic, white corridor with shadows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499" y="12458699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gif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_rels/slide9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
</file>

<file path=ppt/slides/_rels/slide9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/Relationships>

</file>

<file path=ppt/slides/_rels/slide9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/Relationships>

</file>

<file path=ppt/slides/_rels/slide9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1.png"/></Relationships>

</file>

<file path=ppt/slides/_rels/slide9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/Relationships>

</file>

<file path=ppt/slides/_rels/slide9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/Relationships>

</file>

<file path=ppt/slides/_rels/slide9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aurabh Singh(24 Jan 2026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Saurabh Singh(24 Jan 2026)</a:t>
            </a:r>
          </a:p>
        </p:txBody>
      </p:sp>
      <p:sp>
        <p:nvSpPr>
          <p:cNvPr id="172" name="Basics of CSS.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Basics of CSS.</a:t>
            </a:r>
          </a:p>
        </p:txBody>
      </p:sp>
      <p:sp>
        <p:nvSpPr>
          <p:cNvPr id="173" name="All About CSS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All About CSS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et started with CSS basics: selectors, properties, and where to write style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55">
              <a:defRPr spc="-100" sz="10080"/>
            </a:lvl1pPr>
          </a:lstStyle>
          <a:p>
            <a:pPr/>
            <a:r>
              <a:t>Get started with CSS basics: selectors, properties, and where to write styles.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opics to be cover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Topics to be covered</a:t>
            </a:r>
          </a:p>
        </p:txBody>
      </p:sp>
      <p:sp>
        <p:nvSpPr>
          <p:cNvPr id="178" name="CSS ba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26336">
              <a:defRPr spc="-94" sz="9480"/>
            </a:lvl1pPr>
          </a:lstStyle>
          <a:p>
            <a:pPr/>
            <a:r>
              <a:t>CSS basics</a:t>
            </a:r>
          </a:p>
        </p:txBody>
      </p:sp>
      <p:sp>
        <p:nvSpPr>
          <p:cNvPr id="179" name="What is CSS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is CSS?</a:t>
            </a:r>
          </a:p>
          <a:p>
            <a:pPr/>
            <a:r>
              <a:t>Where to Write CSS</a:t>
            </a:r>
          </a:p>
          <a:p>
            <a:pPr/>
            <a:r>
              <a:t>CSS Syntax Basics</a:t>
            </a:r>
          </a:p>
          <a:p>
            <a:pPr/>
            <a:r>
              <a:t>CSS Selectors (Very Important)</a:t>
            </a:r>
          </a:p>
          <a:p>
            <a:pPr/>
            <a:r>
              <a:t>Common CSS Properties (Starter Set)</a:t>
            </a:r>
          </a:p>
          <a:p>
            <a:pPr/>
            <a:r>
              <a:t>How CSS is Applied (Cascade Rule)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Angular, futuristic, white corridor with shadows" descr="Angular, futuristic, white corridor with shadows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6325" r="0" b="4887"/>
          <a:stretch>
            <a:fillRect/>
          </a:stretch>
        </p:blipFill>
        <p:spPr>
          <a:xfrm>
            <a:off x="7067198" y="78404"/>
            <a:ext cx="10249605" cy="13650463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What is CSS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What is CSS?</a:t>
            </a:r>
          </a:p>
        </p:txBody>
      </p:sp>
      <p:sp>
        <p:nvSpPr>
          <p:cNvPr id="184" name="CSS (Cascading Style Sheets) controls how HTML elements look on the page—colors, spacing, layout, fonts, and responsiveness.…"/>
          <p:cNvSpPr txBox="1"/>
          <p:nvPr>
            <p:ph type="body" idx="1"/>
          </p:nvPr>
        </p:nvSpPr>
        <p:spPr>
          <a:xfrm>
            <a:off x="1206500" y="2924446"/>
            <a:ext cx="21971000" cy="9580070"/>
          </a:xfrm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CSS (Cascading Style Sheets)</a:t>
            </a:r>
            <a:r>
              <a:t> controls how HTML elements look on the page—colors, spacing, layout, fonts, and responsiveness.</a:t>
            </a:r>
          </a:p>
          <a:p>
            <a:pPr/>
            <a:r>
              <a:t>HTML = structure</a:t>
            </a:r>
          </a:p>
          <a:p>
            <a:pPr/>
            <a:r>
              <a:t>CSS = appearance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Inline CSS (not recommended for real projects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Inline CSS (not recommended for real projects)</a:t>
            </a:r>
          </a:p>
        </p:txBody>
      </p:sp>
      <p:sp>
        <p:nvSpPr>
          <p:cNvPr id="187" name="Where to use C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Where to use CSS</a:t>
            </a:r>
          </a:p>
        </p:txBody>
      </p:sp>
      <p:sp>
        <p:nvSpPr>
          <p:cNvPr id="188" name="Written directly inside an HTML tag. &lt;p style=&quot;color: red; font-size: 18px;&quot;&gt;Hello World&lt;/p&gt;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Written directly inside an HTML tag.</a:t>
            </a:r>
            <a:br/>
            <a:r>
              <a:t>&lt;p style="color: red; font-size: 18px;"&gt;Hello World&lt;/p&gt;</a:t>
            </a:r>
          </a:p>
          <a:p>
            <a:pPr/>
            <a:r>
              <a:t>Pros: Quick testing</a:t>
            </a:r>
          </a:p>
          <a:p>
            <a:pPr/>
            <a:r>
              <a:t>Cons</a:t>
            </a:r>
          </a:p>
          <a:p>
            <a:pPr lvl="1"/>
            <a:r>
              <a:t>Hard to maintain</a:t>
            </a:r>
          </a:p>
          <a:p>
            <a:pPr lvl="1"/>
            <a:r>
              <a:t>No reuse</a:t>
            </a:r>
          </a:p>
          <a:p>
            <a:pPr lvl="1"/>
            <a:r>
              <a:t>Avoid in production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Internal CSS (inside &lt;style&gt; tag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Internal CSS (inside &lt;style&gt; tag)</a:t>
            </a:r>
          </a:p>
        </p:txBody>
      </p:sp>
      <p:sp>
        <p:nvSpPr>
          <p:cNvPr id="191" name="Where to use C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Where to use CSS</a:t>
            </a:r>
          </a:p>
        </p:txBody>
      </p:sp>
      <p:sp>
        <p:nvSpPr>
          <p:cNvPr id="192" name="Written in the &lt;head&gt; of an  HTML file. &lt;head&gt;    &lt;style&gt;     p {          color: blue;          font-size: 16px;          }     &lt;/style&gt; &lt;/head&gt;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74904" indent="-374904" defTabSz="291591">
              <a:spcBef>
                <a:spcPts val="3800"/>
              </a:spcBef>
              <a:defRPr sz="3280"/>
            </a:pPr>
            <a:r>
              <a:t>Written in the &lt;head&gt; of an  HTML file.</a:t>
            </a:r>
            <a:br/>
            <a:r>
              <a:t>&lt;head&gt;</a:t>
            </a:r>
            <a:br/>
            <a:r>
              <a:t>   &lt;style&gt;</a:t>
            </a:r>
            <a:br/>
            <a:r>
              <a:t>    p {</a:t>
            </a:r>
            <a:br/>
            <a:r>
              <a:t>         color: blue;</a:t>
            </a:r>
            <a:br/>
            <a:r>
              <a:t>         font-size: 16px;</a:t>
            </a:r>
            <a:br/>
            <a:r>
              <a:t>         }</a:t>
            </a:r>
            <a:br/>
            <a:r>
              <a:t>    &lt;/style&gt;</a:t>
            </a:r>
            <a:br/>
            <a:r>
              <a:t>&lt;/head&gt;</a:t>
            </a:r>
          </a:p>
          <a:p>
            <a:pPr marL="374904" indent="-374904" defTabSz="291591">
              <a:spcBef>
                <a:spcPts val="3800"/>
              </a:spcBef>
              <a:defRPr sz="3280"/>
            </a:pPr>
            <a:r>
              <a:t>Use case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Small pages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Prototypes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External CSS (best practice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External CSS (best practice)</a:t>
            </a:r>
          </a:p>
        </p:txBody>
      </p:sp>
      <p:sp>
        <p:nvSpPr>
          <p:cNvPr id="195" name="Where to use CS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Where to use CSS</a:t>
            </a:r>
          </a:p>
        </p:txBody>
      </p:sp>
      <p:sp>
        <p:nvSpPr>
          <p:cNvPr id="196" name="Written in a separate .css file index.html &lt;link rel=&quot;stylesheet&quot; href=&quot;styles.css&quot;&gt; style.css p {      color: green;      font-size: 16px; }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15468" indent="-315468" defTabSz="245363">
              <a:spcBef>
                <a:spcPts val="3200"/>
              </a:spcBef>
              <a:defRPr sz="2760"/>
            </a:pPr>
            <a:r>
              <a:t>Written in a separate .css file</a:t>
            </a:r>
            <a:br/>
            <a:r>
              <a:t>index.html</a:t>
            </a:r>
            <a:br/>
            <a:r>
              <a:t>&lt;link rel="stylesheet" href="styles.css"&gt;</a:t>
            </a:r>
            <a:br/>
            <a:r>
              <a:t>style.css</a:t>
            </a:r>
            <a:br/>
            <a:r>
              <a:t>p {</a:t>
            </a:r>
            <a:br/>
            <a:r>
              <a:t>     color: green;</a:t>
            </a:r>
            <a:br/>
            <a:r>
              <a:t>     font-size: 16px;</a:t>
            </a:r>
            <a:br/>
            <a:r>
              <a:t>}</a:t>
            </a:r>
          </a:p>
          <a:p>
            <a:pPr marL="315468" indent="-315468" defTabSz="245363">
              <a:spcBef>
                <a:spcPts val="3200"/>
              </a:spcBef>
              <a:defRPr sz="2760"/>
            </a:pPr>
            <a:r>
              <a:t>Why</a:t>
            </a:r>
          </a:p>
          <a:p>
            <a:pPr lvl="1" marL="630936" indent="-315468" defTabSz="245363">
              <a:spcBef>
                <a:spcPts val="3200"/>
              </a:spcBef>
              <a:defRPr sz="2760"/>
            </a:pPr>
            <a:r>
              <a:t>Clean separation</a:t>
            </a:r>
          </a:p>
          <a:p>
            <a:pPr lvl="1" marL="630936" indent="-315468" defTabSz="245363">
              <a:spcBef>
                <a:spcPts val="3200"/>
              </a:spcBef>
              <a:defRPr sz="2760"/>
            </a:pPr>
            <a:r>
              <a:t>Reusable</a:t>
            </a:r>
          </a:p>
          <a:p>
            <a:pPr lvl="1" marL="630936" indent="-315468" defTabSz="245363">
              <a:spcBef>
                <a:spcPts val="3200"/>
              </a:spcBef>
              <a:defRPr sz="2760"/>
            </a:pPr>
            <a:r>
              <a:t>Scales well</a:t>
            </a:r>
          </a:p>
          <a:p>
            <a:pPr lvl="1" marL="630936" indent="-315468" defTabSz="245363">
              <a:spcBef>
                <a:spcPts val="3200"/>
              </a:spcBef>
              <a:defRPr sz="2760"/>
            </a:pPr>
            <a:r>
              <a:t>Used in all real projects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CSS Syntax Basic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Syntax Basics</a:t>
            </a:r>
          </a:p>
        </p:txBody>
      </p:sp>
      <p:sp>
        <p:nvSpPr>
          <p:cNvPr id="199" name="Css has three parts selector {        property: value; }…"/>
          <p:cNvSpPr txBox="1"/>
          <p:nvPr>
            <p:ph type="body" idx="1"/>
          </p:nvPr>
        </p:nvSpPr>
        <p:spPr>
          <a:xfrm>
            <a:off x="1206500" y="2493228"/>
            <a:ext cx="21971000" cy="10027447"/>
          </a:xfrm>
          <a:prstGeom prst="rect">
            <a:avLst/>
          </a:prstGeom>
        </p:spPr>
        <p:txBody>
          <a:bodyPr/>
          <a:lstStyle/>
          <a:p>
            <a:pPr/>
            <a:r>
              <a:t>Css has three parts</a:t>
            </a:r>
            <a:br/>
            <a:r>
              <a:t>selector {</a:t>
            </a:r>
            <a:br/>
            <a:r>
              <a:t>       property: value;</a:t>
            </a:r>
            <a:br/>
            <a:r>
              <a:t>}</a:t>
            </a:r>
          </a:p>
          <a:p>
            <a:pPr/>
            <a:r>
              <a:t>Example</a:t>
            </a:r>
            <a:br/>
            <a:r>
              <a:t>h1 {</a:t>
            </a:r>
            <a:br/>
            <a:r>
              <a:t>  color: purple;</a:t>
            </a:r>
            <a:br/>
            <a:r>
              <a:t>  text-align: center;</a:t>
            </a:r>
            <a:br/>
            <a:r>
              <a:t>}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Element Selecto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Element Selector</a:t>
            </a:r>
          </a:p>
        </p:txBody>
      </p:sp>
      <p:sp>
        <p:nvSpPr>
          <p:cNvPr id="202" name="CSS Selector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Selectors (Very Important)</a:t>
            </a:r>
          </a:p>
        </p:txBody>
      </p:sp>
      <p:sp>
        <p:nvSpPr>
          <p:cNvPr id="203" name="Selectors decide which HTML elements get styled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Selectors</a:t>
            </a:r>
            <a:r>
              <a:t> decide which HTML elements get styled.</a:t>
            </a:r>
          </a:p>
          <a:p>
            <a:pPr/>
            <a:r>
              <a:t>Element Selector targets all element of a type</a:t>
            </a:r>
          </a:p>
          <a:p>
            <a:pPr/>
            <a:r>
              <a:t>css</a:t>
            </a:r>
            <a:br/>
            <a:r>
              <a:t>p {</a:t>
            </a:r>
            <a:br/>
            <a:r>
              <a:t>color: black;</a:t>
            </a:r>
            <a:br/>
            <a:r>
              <a:t>}</a:t>
            </a:r>
          </a:p>
          <a:p>
            <a:pPr/>
            <a:r>
              <a:t>Targets</a:t>
            </a:r>
            <a:br/>
            <a:r>
              <a:t>&lt;p&gt;All paragraphs&lt;/p&gt;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lass Selecto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Class Selector</a:t>
            </a:r>
          </a:p>
        </p:txBody>
      </p:sp>
      <p:sp>
        <p:nvSpPr>
          <p:cNvPr id="206" name="CSS Selector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Selectors (Very Important)</a:t>
            </a:r>
          </a:p>
        </p:txBody>
      </p:sp>
      <p:sp>
        <p:nvSpPr>
          <p:cNvPr id="207" name="Starts with a ‘.’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Starts with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‘.’</a:t>
            </a:r>
          </a:p>
          <a:p>
            <a:pPr/>
            <a:r>
              <a:t>css</a:t>
            </a:r>
            <a:br/>
            <a:r>
              <a:t>.card {</a:t>
            </a:r>
            <a:br/>
            <a:r>
              <a:t>border: 1px solid gray;</a:t>
            </a:r>
            <a:br/>
            <a:r>
              <a:t>padding: 16px;</a:t>
            </a:r>
            <a:br/>
            <a:r>
              <a:t>}</a:t>
            </a:r>
          </a:p>
          <a:p>
            <a:pPr/>
            <a:r>
              <a:t>HTML</a:t>
            </a:r>
            <a:br/>
            <a:r>
              <a:t>&lt;div class="card"&gt;Content&lt;/div&gt;</a:t>
            </a:r>
          </a:p>
          <a:p>
            <a:pPr/>
            <a:r>
              <a:t>You can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reuse </a:t>
            </a:r>
            <a:r>
              <a:t>classes many times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ID Selecto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ID Selector</a:t>
            </a:r>
          </a:p>
        </p:txBody>
      </p:sp>
      <p:sp>
        <p:nvSpPr>
          <p:cNvPr id="210" name="CSS Selector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Selectors (Very Important)</a:t>
            </a:r>
          </a:p>
        </p:txBody>
      </p:sp>
      <p:sp>
        <p:nvSpPr>
          <p:cNvPr id="211" name="Starts with #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Starts with #</a:t>
            </a:r>
          </a:p>
          <a:p>
            <a:pPr/>
            <a:r>
              <a:t>css</a:t>
            </a:r>
            <a:br/>
            <a:r>
              <a:t>#header {</a:t>
            </a:r>
            <a:br/>
            <a:r>
              <a:t>background-color: light blue;</a:t>
            </a:r>
            <a:br/>
            <a:r>
              <a:t>}</a:t>
            </a:r>
          </a:p>
          <a:p>
            <a:pPr/>
            <a:r>
              <a:t>HTML</a:t>
            </a:r>
            <a:br/>
            <a:r>
              <a:t>&lt;div id=“header"&gt;&lt;/div&gt;</a:t>
            </a:r>
          </a:p>
          <a:p>
            <a:pPr/>
            <a:r>
              <a:t>Use IDs sparingly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roup Selecto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Group Selector</a:t>
            </a:r>
          </a:p>
        </p:txBody>
      </p:sp>
      <p:sp>
        <p:nvSpPr>
          <p:cNvPr id="214" name="CSS Selector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Selectors (Very Important)</a:t>
            </a:r>
          </a:p>
        </p:txBody>
      </p:sp>
      <p:sp>
        <p:nvSpPr>
          <p:cNvPr id="215" name="Apply same style to multiple selector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Apply same style to multiple selectors</a:t>
            </a:r>
          </a:p>
          <a:p>
            <a:pPr/>
            <a:r>
              <a:t>css</a:t>
            </a:r>
            <a:br/>
            <a:r>
              <a:t>h1, h2, h3 {</a:t>
            </a:r>
            <a:br/>
            <a:r>
              <a:t>font-family: Arial;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Descendant Selecto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Descendant Selector</a:t>
            </a:r>
          </a:p>
        </p:txBody>
      </p:sp>
      <p:sp>
        <p:nvSpPr>
          <p:cNvPr id="218" name="CSS Selector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Selectors (Very Important)</a:t>
            </a:r>
          </a:p>
        </p:txBody>
      </p:sp>
      <p:sp>
        <p:nvSpPr>
          <p:cNvPr id="219" name="Targets elements inside another element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Targets elements inside another element.</a:t>
            </a:r>
          </a:p>
          <a:p>
            <a:pPr/>
            <a:r>
              <a:t>css</a:t>
            </a:r>
            <a:br/>
            <a:r>
              <a:t>div p {</a:t>
            </a:r>
            <a:br/>
            <a:r>
              <a:t>color: red;</a:t>
            </a:r>
            <a:br/>
            <a:r>
              <a:t>}</a:t>
            </a:r>
          </a:p>
          <a:p>
            <a:pPr/>
            <a:r>
              <a:t>Means: all &lt;p&gt; inside &lt;div&gt;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Text</a:t>
            </a:r>
          </a:p>
        </p:txBody>
      </p:sp>
      <p:sp>
        <p:nvSpPr>
          <p:cNvPr id="222" name="Common CSS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Common CSS Properties </a:t>
            </a:r>
          </a:p>
        </p:txBody>
      </p:sp>
      <p:sp>
        <p:nvSpPr>
          <p:cNvPr id="223" name="css color font-size font-family font-weight text-align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css</a:t>
            </a:r>
            <a:br/>
            <a:r>
              <a:t>color</a:t>
            </a:r>
            <a:br/>
            <a:r>
              <a:t>font-size</a:t>
            </a:r>
            <a:br/>
            <a:r>
              <a:t>font-family</a:t>
            </a:r>
            <a:br/>
            <a:r>
              <a:t>font-weight</a:t>
            </a:r>
            <a:br/>
            <a:r>
              <a:t>text-align</a:t>
            </a:r>
          </a:p>
          <a:p>
            <a:pPr/>
            <a:r>
              <a:t>Example</a:t>
            </a:r>
            <a:br/>
            <a:r>
              <a:t>p {</a:t>
            </a:r>
            <a:br/>
            <a:r>
              <a:t>color: #333;</a:t>
            </a:r>
            <a:br/>
            <a:r>
              <a:t>font-size: 14px;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Box Model(Very Importan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Box Model(Very Important)</a:t>
            </a:r>
          </a:p>
        </p:txBody>
      </p:sp>
      <p:sp>
        <p:nvSpPr>
          <p:cNvPr id="226" name="Common CSS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Common CSS Properties </a:t>
            </a:r>
          </a:p>
        </p:txBody>
      </p:sp>
      <p:sp>
        <p:nvSpPr>
          <p:cNvPr id="227" name="css margin padding border width heigh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97763" indent="-397763" defTabSz="309372">
              <a:spcBef>
                <a:spcPts val="4000"/>
              </a:spcBef>
              <a:defRPr sz="3480"/>
            </a:pPr>
            <a:r>
              <a:t>css</a:t>
            </a:r>
            <a:br/>
            <a:r>
              <a:t>margin</a:t>
            </a:r>
            <a:br/>
            <a:r>
              <a:t>padding</a:t>
            </a:r>
            <a:br/>
            <a:r>
              <a:t>border</a:t>
            </a:r>
            <a:br/>
            <a:r>
              <a:t>width</a:t>
            </a:r>
            <a:br/>
            <a:r>
              <a:t>height</a:t>
            </a:r>
          </a:p>
          <a:p>
            <a:pPr marL="397763" indent="-397763" defTabSz="309372">
              <a:spcBef>
                <a:spcPts val="4000"/>
              </a:spcBef>
              <a:defRPr sz="3480"/>
            </a:pPr>
            <a:r>
              <a:t>Example</a:t>
            </a:r>
            <a:br/>
            <a:r>
              <a:t>.box {</a:t>
            </a:r>
            <a:br/>
            <a:r>
              <a:t>width: 200px;</a:t>
            </a:r>
            <a:br/>
            <a:r>
              <a:t>padding: 16px;</a:t>
            </a:r>
            <a:br/>
            <a:r>
              <a:t>margin: 10px;</a:t>
            </a:r>
            <a:br/>
            <a:r>
              <a:t>border: 1px solid black;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Backgroun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Background</a:t>
            </a:r>
          </a:p>
        </p:txBody>
      </p:sp>
      <p:sp>
        <p:nvSpPr>
          <p:cNvPr id="230" name="Common CSS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Common CSS Properties </a:t>
            </a:r>
          </a:p>
        </p:txBody>
      </p:sp>
      <p:sp>
        <p:nvSpPr>
          <p:cNvPr id="231" name="css  background-color background-image background-size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css</a:t>
            </a:r>
            <a:br/>
            <a:br/>
            <a:r>
              <a:t>background-color</a:t>
            </a:r>
            <a:br/>
            <a:r>
              <a:t>background-image</a:t>
            </a:r>
            <a:br/>
            <a:r>
              <a:t>background-size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How CSS is Applied(Cascade Rul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How CSS is Applied(Cascade Rule)</a:t>
            </a:r>
          </a:p>
        </p:txBody>
      </p:sp>
      <p:sp>
        <p:nvSpPr>
          <p:cNvPr id="234" name="Priority Order…"/>
          <p:cNvSpPr txBox="1"/>
          <p:nvPr>
            <p:ph type="body" idx="1"/>
          </p:nvPr>
        </p:nvSpPr>
        <p:spPr>
          <a:xfrm>
            <a:off x="1304275" y="2630706"/>
            <a:ext cx="21873225" cy="9873810"/>
          </a:xfrm>
          <a:prstGeom prst="rect">
            <a:avLst/>
          </a:prstGeom>
        </p:spPr>
        <p:txBody>
          <a:bodyPr/>
          <a:lstStyle/>
          <a:p>
            <a:pPr/>
            <a:r>
              <a:t>Priority Order</a:t>
            </a:r>
          </a:p>
          <a:p>
            <a:pPr lvl="1" marL="1397000" indent="-698500">
              <a:buAutoNum type="arabicPeriod" startAt="1"/>
            </a:pPr>
            <a:r>
              <a:t>Inline CSS (highest)</a:t>
            </a:r>
          </a:p>
          <a:p>
            <a:pPr lvl="1" marL="1397000" indent="-698500">
              <a:buAutoNum type="arabicPeriod" startAt="1"/>
            </a:pPr>
            <a:r>
              <a:t>Internal CSS</a:t>
            </a:r>
          </a:p>
          <a:p>
            <a:pPr lvl="1" marL="1397000" indent="-698500">
              <a:buAutoNum type="arabicPeriod" startAt="1"/>
            </a:pPr>
            <a:r>
              <a:t>External CSS (lowest)</a:t>
            </a:r>
          </a:p>
          <a:p>
            <a:pPr/>
            <a:r>
              <a:t>More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specific selectors override generic ones</a:t>
            </a:r>
            <a:endParaRPr b="1">
              <a:latin typeface="Avenir Next Regular"/>
              <a:ea typeface="Avenir Next Regular"/>
              <a:cs typeface="Avenir Next Regular"/>
              <a:sym typeface="Avenir Next Regular"/>
            </a:endParaRPr>
          </a:p>
          <a:p>
            <a:pPr/>
            <a:r>
              <a:t>css</a:t>
            </a:r>
            <a:br/>
            <a:r>
              <a:t>&lt;p class="text"&gt;Blue wins&lt;/p&gt;</a:t>
            </a:r>
          </a:p>
          <a:p>
            <a:pPr/>
            <a:r>
              <a:t>html</a:t>
            </a:r>
            <a:br/>
            <a:r>
              <a:t>&lt;p class="text"&gt;Blue wins&lt;/p&gt;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Understand CSS specificity and selector hierarchy for predictable sty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104">
              <a:defRPr spc="-97" sz="9720"/>
            </a:lvl1pPr>
          </a:lstStyle>
          <a:p>
            <a:pPr/>
            <a:r>
              <a:t>Understand CSS specificity and selector hierarchy for predictable styling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opics to be cover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Topics to be covered</a:t>
            </a:r>
          </a:p>
        </p:txBody>
      </p:sp>
      <p:sp>
        <p:nvSpPr>
          <p:cNvPr id="239" name="Understand CSS specificity and selector hierarchy for predictable sty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267967">
              <a:defRPr spc="-52" sz="5200"/>
            </a:lvl1pPr>
          </a:lstStyle>
          <a:p>
            <a:pPr/>
            <a:r>
              <a:t>Understand CSS specificity and selector hierarchy for predictable styling</a:t>
            </a:r>
          </a:p>
        </p:txBody>
      </p:sp>
      <p:sp>
        <p:nvSpPr>
          <p:cNvPr id="240" name="What Is CSS Specificity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88620" indent="-388620" defTabSz="302260">
              <a:spcBef>
                <a:spcPts val="3900"/>
              </a:spcBef>
              <a:defRPr sz="3400"/>
            </a:pPr>
            <a:r>
              <a:t>What Is CSS Specificity?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The Specificity Hierarchy (From Lowest to Highest)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How Specificity Is Calculated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Selector Hierarchy in Practice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The Cascade: When Specificity Is Equal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!important: Use with caution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Common specificity Pitfalls</a:t>
            </a:r>
          </a:p>
          <a:p>
            <a:pPr marL="388620" indent="-388620" defTabSz="302260">
              <a:spcBef>
                <a:spcPts val="3900"/>
              </a:spcBef>
              <a:defRPr sz="3400"/>
            </a:pPr>
            <a:r>
              <a:t>Best Practices for Predictable Styling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What Is CSS Specificit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What Is CSS Specificity?</a:t>
            </a:r>
          </a:p>
        </p:txBody>
      </p:sp>
      <p:sp>
        <p:nvSpPr>
          <p:cNvPr id="243" name="CSS specificity is the rule system browsers use to decide which CSS declaration wins when multiple rules target the same element.…"/>
          <p:cNvSpPr txBox="1"/>
          <p:nvPr>
            <p:ph type="body" idx="1"/>
          </p:nvPr>
        </p:nvSpPr>
        <p:spPr>
          <a:xfrm>
            <a:off x="1206500" y="3233985"/>
            <a:ext cx="21971000" cy="9270531"/>
          </a:xfrm>
          <a:prstGeom prst="rect">
            <a:avLst/>
          </a:prstGeom>
        </p:spPr>
        <p:txBody>
          <a:bodyPr/>
          <a:lstStyle/>
          <a:p>
            <a:pPr/>
            <a:r>
              <a:t>CSS specificity is the rule system browsers use to decide which CSS declaration wins when multiple rules target the same element.</a:t>
            </a:r>
          </a:p>
          <a:p>
            <a:pPr/>
            <a:r>
              <a:t>More specific selectors override less specific ones.</a:t>
            </a:r>
          </a:p>
          <a:p>
            <a:pPr/>
            <a:r>
              <a:t>Specificity prevents ambiguity in styling and is a core part of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CSS Cascade</a:t>
            </a:r>
            <a:r>
              <a:t> (along with source order and importance).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he Specificity Hierarchy (From Lowest to Highes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800">
              <a:defRPr spc="-75" sz="7500"/>
            </a:lvl1pPr>
          </a:lstStyle>
          <a:p>
            <a:pPr/>
            <a:r>
              <a:t>The Specificity Hierarchy (From Lowest to Highest)</a:t>
            </a:r>
          </a:p>
        </p:txBody>
      </p:sp>
      <p:sp>
        <p:nvSpPr>
          <p:cNvPr id="246" name="Slide bullet text"/>
          <p:cNvSpPr txBox="1"/>
          <p:nvPr>
            <p:ph type="body" idx="1"/>
          </p:nvPr>
        </p:nvSpPr>
        <p:spPr>
          <a:xfrm>
            <a:off x="1206500" y="2881218"/>
            <a:ext cx="21971000" cy="962329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</a:p>
          <a:p>
            <a:pPr marL="0" indent="0">
              <a:buSzTx/>
              <a:buNone/>
            </a:pPr>
          </a:p>
        </p:txBody>
      </p:sp>
      <p:graphicFrame>
        <p:nvGraphicFramePr>
          <p:cNvPr id="247" name="Table 1"/>
          <p:cNvGraphicFramePr/>
          <p:nvPr/>
        </p:nvGraphicFramePr>
        <p:xfrm>
          <a:off x="1243674" y="2900042"/>
          <a:ext cx="21909352" cy="939041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962680"/>
                <a:gridCol w="8961093"/>
                <a:gridCol w="8972879"/>
              </a:tblGrid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Priority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Selector Type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Examples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1 (Lowest)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Universal selector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*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2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Element (type) selectors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defRPr>
                      </a:pPr>
                      <a:r>
                        <a:t>div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p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h1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3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Class selectors, attributes, pseudo-classes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defRPr>
                      </a:pPr>
                      <a:r>
                        <a:t>.card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[type="text"]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:hover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4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ID selectors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defRPr>
                      </a:pPr>
                      <a:r>
                        <a:t>#header</a:t>
                      </a: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, </a:t>
                      </a:r>
                      <a:r>
                        <a:t>#main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5 (Highest)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Inline styles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style="color:red"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339672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Absolute override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!important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color:red !important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Angular, futuristic, white corridor with shadows" descr="Angular, futuristic, white corridor with shadows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183691" y="2368740"/>
            <a:ext cx="24016618" cy="897852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How Specificity Is Calculat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How Specificity Is Calculated</a:t>
            </a:r>
          </a:p>
        </p:txBody>
      </p:sp>
      <p:sp>
        <p:nvSpPr>
          <p:cNvPr id="252" name="Specificity is calculated as a 4-part score: (a, b, c, d) {a = Inline styles, b = Number of IDs, c = Number of classes, attributes, pseudo-classes, d = Number of elements, pseudo-elements}…"/>
          <p:cNvSpPr txBox="1"/>
          <p:nvPr>
            <p:ph type="body" idx="1"/>
          </p:nvPr>
        </p:nvSpPr>
        <p:spPr>
          <a:xfrm>
            <a:off x="1206500" y="2848542"/>
            <a:ext cx="21971000" cy="9655974"/>
          </a:xfrm>
          <a:prstGeom prst="rect">
            <a:avLst/>
          </a:prstGeom>
        </p:spPr>
        <p:txBody>
          <a:bodyPr/>
          <a:lstStyle/>
          <a:p>
            <a:pPr marL="448055" indent="-448055" defTabSz="348488">
              <a:spcBef>
                <a:spcPts val="4600"/>
              </a:spcBef>
              <a:defRPr sz="3920"/>
            </a:pPr>
            <a:r>
              <a:t>Specificity is calculated 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4-part score</a:t>
            </a:r>
            <a:r>
              <a:t>:</a:t>
            </a:r>
            <a:br/>
            <a:r>
              <a:t>(a, b, c, d) {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a</a:t>
            </a:r>
            <a:r>
              <a:t> = Inline styles,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b</a:t>
            </a:r>
            <a:r>
              <a:t> = Number of IDs,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</a:t>
            </a:r>
            <a:r>
              <a:t> = Number of classes, attributes, pseudo-classes,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</a:t>
            </a:r>
            <a:r>
              <a:t> = Number of elements, pseudo-elements}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Examples</a:t>
            </a:r>
          </a:p>
          <a:p>
            <a:pPr marL="448055" indent="-448055" defTabSz="348488">
              <a:spcBef>
                <a:spcPts val="4600"/>
              </a:spcBef>
              <a:defRPr sz="3920"/>
            </a:pPr>
          </a:p>
          <a:p>
            <a:pPr marL="448055" indent="-448055" defTabSz="348488">
              <a:spcBef>
                <a:spcPts val="4600"/>
              </a:spcBef>
              <a:defRPr sz="3920"/>
            </a:pPr>
          </a:p>
          <a:p>
            <a:pPr marL="448055" indent="-448055" defTabSz="348488">
              <a:spcBef>
                <a:spcPts val="4600"/>
              </a:spcBef>
              <a:defRPr sz="3920"/>
            </a:pPr>
          </a:p>
          <a:p>
            <a:pPr marL="448055" indent="-448055" defTabSz="348488">
              <a:spcBef>
                <a:spcPts val="4600"/>
              </a:spcBef>
              <a:defRPr sz="3920"/>
            </a:pPr>
          </a:p>
          <a:p>
            <a:pPr marL="448055" indent="-448055" defTabSz="348488">
              <a:spcBef>
                <a:spcPts val="4600"/>
              </a:spcBef>
              <a:defRPr sz="3920"/>
            </a:pPr>
            <a:r>
              <a:t>Browsers compare specificity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left to right</a:t>
            </a:r>
            <a:r>
              <a:t>, just like numbers.</a:t>
            </a:r>
          </a:p>
        </p:txBody>
      </p:sp>
      <p:graphicFrame>
        <p:nvGraphicFramePr>
          <p:cNvPr id="253" name="Table 1"/>
          <p:cNvGraphicFramePr/>
          <p:nvPr/>
        </p:nvGraphicFramePr>
        <p:xfrm>
          <a:off x="2978150" y="6713142"/>
          <a:ext cx="9930364" cy="3339435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031391"/>
                <a:gridCol w="2886272"/>
              </a:tblGrid>
              <a:tr h="665346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Selector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Specificity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65346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(0,0,0,1)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65346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.box 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(0,0,1,1)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65346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#app .box p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(0,1,1,1)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665346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style="color:red"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(1,0,0,0)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4" y="103"/>
            <a:ext cx="24383632" cy="137157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Selector Hierarchy in Practic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Selector Hierarchy in Practice</a:t>
            </a:r>
          </a:p>
        </p:txBody>
      </p:sp>
      <p:sp>
        <p:nvSpPr>
          <p:cNvPr id="258" name="css p {       color: blue; } .text {       color: green; } #content p {      color: red; }…"/>
          <p:cNvSpPr txBox="1"/>
          <p:nvPr>
            <p:ph type="body" idx="1"/>
          </p:nvPr>
        </p:nvSpPr>
        <p:spPr>
          <a:xfrm>
            <a:off x="1206500" y="2660727"/>
            <a:ext cx="21971000" cy="9843789"/>
          </a:xfrm>
          <a:prstGeom prst="rect">
            <a:avLst/>
          </a:prstGeom>
        </p:spPr>
        <p:txBody>
          <a:bodyPr/>
          <a:lstStyle/>
          <a:p>
            <a:pPr marL="365760" indent="-365760" defTabSz="284479">
              <a:spcBef>
                <a:spcPts val="3700"/>
              </a:spcBef>
              <a:defRPr sz="3200"/>
            </a:pPr>
            <a:r>
              <a:t>css</a:t>
            </a:r>
            <a:br/>
            <a:r>
              <a:t>p {</a:t>
            </a:r>
            <a:br/>
            <a:r>
              <a:t>      color: blue;</a:t>
            </a:r>
            <a:br/>
            <a:r>
              <a:t>}</a:t>
            </a:r>
            <a:br/>
            <a:r>
              <a:t>.text {</a:t>
            </a:r>
            <a:br/>
            <a:r>
              <a:t>      color: green;</a:t>
            </a:r>
            <a:br/>
            <a:r>
              <a:t>}</a:t>
            </a:r>
            <a:br/>
            <a:r>
              <a:t>#content p {</a:t>
            </a:r>
            <a:br/>
            <a:r>
              <a:t>     color: red;</a:t>
            </a:r>
            <a:br/>
            <a:r>
              <a:t>}</a:t>
            </a:r>
          </a:p>
          <a:p>
            <a:pPr marL="365760" indent="-365760" defTabSz="284479">
              <a:spcBef>
                <a:spcPts val="3700"/>
              </a:spcBef>
              <a:defRPr sz="3200"/>
            </a:pPr>
            <a:r>
              <a:t>Result</a:t>
            </a:r>
            <a:br/>
            <a:r>
              <a:t>Paragraph inside #content → red</a:t>
            </a:r>
            <a:b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Why?</a:t>
            </a:r>
            <a:b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</a:br>
            <a:r>
              <a:t>#content p → (0,1,0,1)</a:t>
            </a:r>
            <a:br/>
            <a:r>
              <a:t>.text → (0,0,1,0)</a:t>
            </a:r>
            <a:br/>
            <a:r>
              <a:t>p → (0,0,0,1)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he Cascade: When Specificity Is Equ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The Cascade: When Specificity Is Equal</a:t>
            </a:r>
          </a:p>
        </p:txBody>
      </p:sp>
      <p:sp>
        <p:nvSpPr>
          <p:cNvPr id="261" name="If specificity scores are identical, CSS uses source order.…"/>
          <p:cNvSpPr txBox="1"/>
          <p:nvPr>
            <p:ph type="body" idx="1"/>
          </p:nvPr>
        </p:nvSpPr>
        <p:spPr>
          <a:xfrm>
            <a:off x="1206500" y="2588710"/>
            <a:ext cx="21971000" cy="9915806"/>
          </a:xfrm>
          <a:prstGeom prst="rect">
            <a:avLst/>
          </a:prstGeom>
        </p:spPr>
        <p:txBody>
          <a:bodyPr/>
          <a:lstStyle/>
          <a:p>
            <a:pPr/>
            <a:r>
              <a:t>If specificity scores are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identical</a:t>
            </a:r>
            <a:r>
              <a:t>, CSS uses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source order</a:t>
            </a:r>
            <a:r>
              <a:t>.</a:t>
            </a:r>
          </a:p>
          <a:p>
            <a:pPr marL="0" indent="0" defTabSz="457200">
              <a:spcBef>
                <a:spcPts val="0"/>
              </a:spcBef>
              <a:buSzTx/>
              <a:buNone/>
              <a:defRPr sz="1300">
                <a:latin typeface="Courier"/>
                <a:ea typeface="Courier"/>
                <a:cs typeface="Courier"/>
                <a:sym typeface="Courier"/>
              </a:defRPr>
            </a:pPr>
          </a:p>
          <a:p>
            <a:pPr marL="0" indent="0" defTabSz="457200">
              <a:spcBef>
                <a:spcPts val="0"/>
              </a:spcBef>
              <a:buSzTx/>
              <a:buNone/>
              <a:defRPr sz="1300">
                <a:latin typeface="Courier"/>
                <a:ea typeface="Courier"/>
                <a:cs typeface="Courier"/>
                <a:sym typeface="Courier"/>
              </a:defRPr>
            </a:pPr>
          </a:p>
          <a:p>
            <a:pPr/>
            <a:r>
              <a:t>css</a:t>
            </a:r>
            <a:br/>
            <a:r>
              <a:t>.button {</a:t>
            </a:r>
            <a:br/>
            <a:r>
              <a:t>background: blue;</a:t>
            </a:r>
            <a:br/>
            <a:r>
              <a:t>}</a:t>
            </a:r>
            <a:br/>
            <a:r>
              <a:t>.button {</a:t>
            </a:r>
            <a:br/>
            <a:r>
              <a:t>background: black;</a:t>
            </a:r>
            <a:br/>
            <a:r>
              <a:t>}</a:t>
            </a:r>
          </a:p>
          <a:p>
            <a:pPr/>
            <a:r>
              <a:t>Result: black (last rule wins)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!important: Use With Cau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!important: Use With Caution</a:t>
            </a:r>
          </a:p>
        </p:txBody>
      </p:sp>
      <p:sp>
        <p:nvSpPr>
          <p:cNvPr id="264" name="Overrides all specificity rules…"/>
          <p:cNvSpPr txBox="1"/>
          <p:nvPr>
            <p:ph type="body" idx="1"/>
          </p:nvPr>
        </p:nvSpPr>
        <p:spPr>
          <a:xfrm>
            <a:off x="1206500" y="2749404"/>
            <a:ext cx="21971000" cy="9755112"/>
          </a:xfrm>
          <a:prstGeom prst="rect">
            <a:avLst/>
          </a:prstGeom>
        </p:spPr>
        <p:txBody>
          <a:bodyPr/>
          <a:lstStyle/>
          <a:p>
            <a:pPr/>
            <a:r>
              <a:t>Overrides all specificity rules</a:t>
            </a:r>
          </a:p>
          <a:p>
            <a:pPr/>
            <a:r>
              <a:t>Makes debugging and maintenance difficult</a:t>
            </a:r>
          </a:p>
          <a:p>
            <a:pPr/>
            <a:r>
              <a:t>Should be avoided except for:</a:t>
            </a:r>
          </a:p>
          <a:p>
            <a:pPr lvl="1"/>
            <a:r>
              <a:t>Utility overrides</a:t>
            </a:r>
          </a:p>
          <a:p>
            <a:pPr lvl="1"/>
            <a:r>
              <a:t>Third-party CSS fixes</a:t>
            </a:r>
          </a:p>
          <a:p>
            <a:pPr/>
            <a:r>
              <a:t>css</a:t>
            </a:r>
            <a:br/>
            <a:r>
              <a:t>.button {</a:t>
            </a:r>
            <a:br/>
            <a:r>
              <a:t> background: blue !important;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Common Specificity Pitfall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Common Specificity Pitfalls</a:t>
            </a:r>
          </a:p>
        </p:txBody>
      </p:sp>
      <p:sp>
        <p:nvSpPr>
          <p:cNvPr id="267" name="Overly specific selectors css div.container ul.menu li a span {   color: red; } Hard to override later…"/>
          <p:cNvSpPr txBox="1"/>
          <p:nvPr>
            <p:ph type="body" idx="1"/>
          </p:nvPr>
        </p:nvSpPr>
        <p:spPr>
          <a:xfrm>
            <a:off x="1206500" y="2734686"/>
            <a:ext cx="21971000" cy="9769830"/>
          </a:xfrm>
          <a:prstGeom prst="rect">
            <a:avLst/>
          </a:prstGeom>
        </p:spPr>
        <p:txBody>
          <a:bodyPr/>
          <a:lstStyle/>
          <a:p>
            <a:pP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Overly specific selectors</a:t>
            </a:r>
            <a:br/>
            <a:r>
              <a:t>css</a:t>
            </a:r>
            <a:br/>
            <a:r>
              <a:t>div.container ul.menu li a span {</a:t>
            </a:r>
            <a:br/>
            <a:r>
              <a:t>  color: red;</a:t>
            </a:r>
            <a:br/>
            <a:r>
              <a:t>}</a:t>
            </a:r>
            <a:b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Hard to override later</a:t>
            </a:r>
          </a:p>
          <a:p>
            <a:pPr/>
            <a:r>
              <a:t>Mixing IDs with classes</a:t>
            </a:r>
            <a:br/>
            <a:r>
              <a:t>css</a:t>
            </a:r>
            <a:br/>
            <a:r>
              <a:t>#header .title { }</a:t>
            </a:r>
            <a:br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Locks styling unnecessarily</a:t>
            </a:r>
            <a:endParaRPr b="1">
              <a:latin typeface="Avenir Next Regular"/>
              <a:ea typeface="Avenir Next Regular"/>
              <a:cs typeface="Avenir Next Regular"/>
              <a:sym typeface="Avenir Next Regular"/>
            </a:endParaRPr>
          </a:p>
          <a:p>
            <a: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Fighting CSS with !important</a:t>
            </a:r>
            <a:br/>
            <a:r>
              <a:t>Often indicates poor selector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Best Practices for Predictable Sty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Best Practices for Predictable Styling</a:t>
            </a:r>
          </a:p>
        </p:txBody>
      </p:sp>
      <p:sp>
        <p:nvSpPr>
          <p:cNvPr id="270" name="Use classes as your primary styling hook css .card { } .card-title { } .card--highlighted { }…"/>
          <p:cNvSpPr txBox="1"/>
          <p:nvPr>
            <p:ph type="body" idx="1"/>
          </p:nvPr>
        </p:nvSpPr>
        <p:spPr>
          <a:xfrm>
            <a:off x="1206500" y="2747368"/>
            <a:ext cx="21971000" cy="9757148"/>
          </a:xfrm>
          <a:prstGeom prst="rect">
            <a:avLst/>
          </a:prstGeom>
        </p:spPr>
        <p:txBody>
          <a:bodyPr/>
          <a:lstStyle/>
          <a:p>
            <a:pPr/>
            <a:r>
              <a:t>Use classes as your primary styling hook</a:t>
            </a:r>
            <a:br/>
            <a:r>
              <a:t>css</a:t>
            </a:r>
            <a:br/>
            <a:r>
              <a:t>.card { }</a:t>
            </a:r>
            <a:br/>
            <a:r>
              <a:t>.card-title { }</a:t>
            </a:r>
            <a:br/>
            <a:r>
              <a:t>.card--highlighted { }</a:t>
            </a:r>
          </a:p>
          <a:p>
            <a:pPr/>
            <a:r>
              <a:t>Keep selectors shallow</a:t>
            </a:r>
            <a:br/>
            <a:r>
              <a:t>css</a:t>
            </a:r>
            <a:br/>
            <a:r>
              <a:t>.card-title { }  /* good */</a:t>
            </a:r>
            <a:br/>
            <a:r>
              <a:t>.card .content .title { }  /* risky */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Best Practices for Predictable Styling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Best Practices for Predictable Styling</a:t>
            </a:r>
          </a:p>
        </p:txBody>
      </p:sp>
      <p:sp>
        <p:nvSpPr>
          <p:cNvPr id="273" name="Avoid IDs for styling…"/>
          <p:cNvSpPr txBox="1"/>
          <p:nvPr>
            <p:ph type="body" idx="1"/>
          </p:nvPr>
        </p:nvSpPr>
        <p:spPr>
          <a:xfrm>
            <a:off x="1206500" y="2747368"/>
            <a:ext cx="21971000" cy="9757148"/>
          </a:xfrm>
          <a:prstGeom prst="rect">
            <a:avLst/>
          </a:prstGeom>
        </p:spPr>
        <p:txBody>
          <a:bodyPr/>
          <a:lstStyle/>
          <a:p>
            <a:pPr/>
            <a:r>
              <a:t>Avoid IDs for styling</a:t>
            </a:r>
          </a:p>
          <a:p>
            <a:pPr lvl="1"/>
            <a:r>
              <a:t>IDs are best for JavaScript and anchors</a:t>
            </a:r>
          </a:p>
          <a:p>
            <a:pPr lvl="1"/>
            <a:r>
              <a:t>Classes scale better</a:t>
            </a:r>
          </a:p>
          <a:p>
            <a:pPr/>
            <a:r>
              <a:t>Adopt a naming convention</a:t>
            </a:r>
          </a:p>
          <a:p>
            <a:pPr lvl="1"/>
            <a:r>
              <a:t>BEM (block__element—modifier)</a:t>
            </a:r>
          </a:p>
          <a:p>
            <a:pPr lvl="1"/>
            <a:r>
              <a:t>Utility-first (Tailwind-style)</a:t>
            </a:r>
          </a:p>
          <a:p>
            <a:pPr lvl="1"/>
            <a:r>
              <a:t>Component-scoped CSS</a:t>
            </a:r>
            <a:b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osition elements using static, relative, absolute, fixed, and stick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114" sz="11400"/>
            </a:lvl1pPr>
          </a:lstStyle>
          <a:p>
            <a:pPr/>
            <a:r>
              <a:t>Position elements using static, relative, absolute, fixed, and sticky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Topics to be covered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Topics to be covered</a:t>
            </a:r>
          </a:p>
        </p:txBody>
      </p:sp>
      <p:sp>
        <p:nvSpPr>
          <p:cNvPr id="278" name="Position elements using static, relative, absolute, fixed, and stick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438655">
              <a:defRPr spc="-58" sz="5899"/>
            </a:lvl1pPr>
          </a:lstStyle>
          <a:p>
            <a:pPr/>
            <a:r>
              <a:t>Position elements using static, relative, absolute, fixed, and sticky</a:t>
            </a:r>
          </a:p>
        </p:txBody>
      </p:sp>
      <p:sp>
        <p:nvSpPr>
          <p:cNvPr id="279" name="position: static (Default behavior)…"/>
          <p:cNvSpPr txBox="1"/>
          <p:nvPr>
            <p:ph type="body" idx="1"/>
          </p:nvPr>
        </p:nvSpPr>
        <p:spPr>
          <a:xfrm>
            <a:off x="1206500" y="3703015"/>
            <a:ext cx="21971000" cy="8801501"/>
          </a:xfrm>
          <a:prstGeom prst="rect">
            <a:avLst/>
          </a:prstGeom>
        </p:spPr>
        <p:txBody>
          <a:bodyPr/>
          <a:lstStyle/>
          <a:p>
            <a:pPr/>
            <a:r>
              <a:t>position: static (Default behavior)</a:t>
            </a:r>
          </a:p>
          <a:p>
            <a:pPr/>
            <a:r>
              <a:t>position: relative</a:t>
            </a:r>
          </a:p>
          <a:p>
            <a:pPr/>
            <a:r>
              <a:t>position: absolute</a:t>
            </a:r>
          </a:p>
          <a:p>
            <a:pPr/>
            <a:r>
              <a:t>position: fixed</a:t>
            </a:r>
          </a:p>
          <a:p>
            <a:pPr/>
            <a:r>
              <a:t>position: sticky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What it mea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it means</a:t>
            </a:r>
          </a:p>
        </p:txBody>
      </p:sp>
      <p:sp>
        <p:nvSpPr>
          <p:cNvPr id="282" name="position: static(default behaviour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static(default behaviour)</a:t>
            </a:r>
          </a:p>
        </p:txBody>
      </p:sp>
      <p:sp>
        <p:nvSpPr>
          <p:cNvPr id="283" name="This is the default position for all HTML element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default position</a:t>
            </a:r>
            <a:r>
              <a:t> for all HTML elements.</a:t>
            </a:r>
          </a:p>
          <a:p>
            <a:pPr/>
            <a:r>
              <a:t>Elements follow the normal document flow (top to bottom, left to right).</a:t>
            </a:r>
          </a:p>
          <a:p>
            <a:pPr/>
            <a:r>
              <a:t>top, right, bottom, left, and z-index do not work.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Key characteristic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</a:t>
            </a:r>
          </a:p>
        </p:txBody>
      </p:sp>
      <p:sp>
        <p:nvSpPr>
          <p:cNvPr id="286" name="position: static(default behaviour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static(default behaviour)</a:t>
            </a:r>
          </a:p>
        </p:txBody>
      </p:sp>
      <p:sp>
        <p:nvSpPr>
          <p:cNvPr id="287" name="No overlap contro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No overlap control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No manual positioning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Layout is predictable</a:t>
            </a:r>
          </a:p>
          <a:p>
            <a:pPr marL="438911" indent="-438911" defTabSz="341375">
              <a:spcBef>
                <a:spcPts val="4500"/>
              </a:spcBef>
              <a:defRPr b="1" sz="3839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Example:</a:t>
            </a:r>
            <a:br/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css</a:t>
            </a:r>
            <a:br>
              <a:rPr b="0">
                <a:latin typeface="Graphik Light"/>
                <a:ea typeface="Graphik Light"/>
                <a:cs typeface="Graphik Light"/>
                <a:sym typeface="Graphik Light"/>
              </a:rPr>
            </a:b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.box {</a:t>
            </a:r>
            <a:br>
              <a:rPr b="0">
                <a:latin typeface="Graphik Light"/>
                <a:ea typeface="Graphik Light"/>
                <a:cs typeface="Graphik Light"/>
                <a:sym typeface="Graphik Light"/>
              </a:rPr>
            </a:br>
            <a:r>
              <a:t>  </a:t>
            </a: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position: static;</a:t>
            </a:r>
            <a:br>
              <a:rPr b="0">
                <a:latin typeface="Graphik Light"/>
                <a:ea typeface="Graphik Light"/>
                <a:cs typeface="Graphik Light"/>
                <a:sym typeface="Graphik Light"/>
              </a:rPr>
            </a:br>
            <a:r>
              <a:rPr b="0">
                <a:latin typeface="Graphik Light"/>
                <a:ea typeface="Graphik Light"/>
                <a:cs typeface="Graphik Light"/>
                <a:sym typeface="Graphik Light"/>
              </a:rPr>
              <a:t>}</a:t>
            </a:r>
            <a:endParaRPr b="0">
              <a:latin typeface="Graphik Light"/>
              <a:ea typeface="Graphik Light"/>
              <a:cs typeface="Graphik Light"/>
              <a:sym typeface="Graphik Light"/>
            </a:endParaRP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Use static when you want standard layout behavior with no positioning logic.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What it mea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it means</a:t>
            </a:r>
          </a:p>
        </p:txBody>
      </p:sp>
      <p:sp>
        <p:nvSpPr>
          <p:cNvPr id="290" name="position: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relative</a:t>
            </a:r>
          </a:p>
        </p:txBody>
      </p:sp>
      <p:sp>
        <p:nvSpPr>
          <p:cNvPr id="291" name="Element stays in normal flow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Element stays in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normal flow</a:t>
            </a:r>
          </a:p>
          <a:p>
            <a:pPr/>
            <a:r>
              <a:t>You can offset it </a:t>
            </a:r>
            <a:r>
              <a:t>relative to its original position</a:t>
            </a:r>
          </a:p>
          <a:p>
            <a:pPr/>
            <a:r>
              <a:t>The original space is still reserved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Key character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characteristics</a:t>
            </a:r>
          </a:p>
        </p:txBody>
      </p:sp>
      <p:sp>
        <p:nvSpPr>
          <p:cNvPr id="294" name="position: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relative</a:t>
            </a:r>
          </a:p>
        </p:txBody>
      </p:sp>
      <p:sp>
        <p:nvSpPr>
          <p:cNvPr id="295" name="Can use top, left, etc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Can use top, left, etc.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Does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not</a:t>
            </a:r>
            <a:r>
              <a:t> affect surrounding layout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Often used as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reference parent</a:t>
            </a:r>
            <a:r>
              <a:t> for absolute elements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Example</a:t>
            </a:r>
            <a:br/>
            <a:r>
              <a:t>css</a:t>
            </a:r>
            <a:br/>
            <a:r>
              <a:t>.box {</a:t>
            </a:r>
            <a:br/>
            <a:r>
              <a:t>position: relative;</a:t>
            </a:r>
            <a:br/>
            <a:r>
              <a:t>top: 10px;</a:t>
            </a:r>
            <a:br/>
            <a:r>
              <a:t>left: 20px;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Common us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Common use</a:t>
            </a:r>
          </a:p>
        </p:txBody>
      </p:sp>
      <p:sp>
        <p:nvSpPr>
          <p:cNvPr id="298" name="position: relativ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relative</a:t>
            </a:r>
          </a:p>
        </p:txBody>
      </p:sp>
      <p:sp>
        <p:nvSpPr>
          <p:cNvPr id="299" name="Minor nudge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Minor nudges</a:t>
            </a:r>
          </a:p>
          <a:p>
            <a:pPr/>
            <a:r>
              <a:t>Creating a positioning context for absolute children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What it mea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it means</a:t>
            </a:r>
          </a:p>
        </p:txBody>
      </p:sp>
      <p:sp>
        <p:nvSpPr>
          <p:cNvPr id="302" name="position: absolu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absolute</a:t>
            </a:r>
          </a:p>
        </p:txBody>
      </p:sp>
      <p:sp>
        <p:nvSpPr>
          <p:cNvPr id="303" name="Removed from normal document flow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Removed from </a:t>
            </a:r>
            <a:r>
              <a:t>normal document flow</a:t>
            </a:r>
          </a:p>
          <a:p>
            <a:pPr/>
            <a:r>
              <a:t>Positioned relative to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nearest positioned ancestor</a:t>
            </a:r>
          </a:p>
          <a:p>
            <a:pPr/>
            <a:r>
              <a:t>If none exists, it positions relative to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viewport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Key character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characteristics</a:t>
            </a:r>
          </a:p>
        </p:txBody>
      </p:sp>
      <p:sp>
        <p:nvSpPr>
          <p:cNvPr id="306" name="position: absolu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absolute</a:t>
            </a:r>
          </a:p>
        </p:txBody>
      </p:sp>
      <p:sp>
        <p:nvSpPr>
          <p:cNvPr id="307" name="Surrounding elements ignore i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352043" indent="-352043" defTabSz="273811">
              <a:spcBef>
                <a:spcPts val="3600"/>
              </a:spcBef>
              <a:defRPr sz="3080"/>
            </a:pPr>
            <a:r>
              <a:t>Surrounding elements ignore it</a:t>
            </a:r>
          </a:p>
          <a:p>
            <a:pPr marL="352043" indent="-352043" defTabSz="273811">
              <a:spcBef>
                <a:spcPts val="3600"/>
              </a:spcBef>
              <a:defRPr sz="3080"/>
            </a:pPr>
            <a:r>
              <a:t>Precise placement</a:t>
            </a:r>
          </a:p>
          <a:p>
            <a:pPr marL="352043" indent="-352043" defTabSz="273811">
              <a:spcBef>
                <a:spcPts val="3600"/>
              </a:spcBef>
              <a:defRPr sz="3080"/>
            </a:pPr>
            <a:r>
              <a:t>Requires a reference parent (relative, absolute, or fixed)</a:t>
            </a:r>
          </a:p>
          <a:p>
            <a:pPr marL="352043" indent="-352043" defTabSz="273811">
              <a:spcBef>
                <a:spcPts val="3600"/>
              </a:spcBef>
              <a:defRPr sz="3080"/>
            </a:pPr>
            <a:r>
              <a:t>Example</a:t>
            </a:r>
            <a:br/>
            <a:r>
              <a:t>css</a:t>
            </a:r>
            <a:br/>
            <a:r>
              <a:t>.parent {</a:t>
            </a:r>
            <a:br/>
            <a:r>
              <a:t>  position: relative;</a:t>
            </a:r>
            <a:br/>
            <a:r>
              <a:t>}</a:t>
            </a:r>
            <a:br/>
            <a:r>
              <a:t>.child {</a:t>
            </a:r>
            <a:br/>
            <a:r>
              <a:t>  position: absolute;</a:t>
            </a:r>
            <a:br/>
            <a:r>
              <a:t>  top: 0;</a:t>
            </a:r>
            <a:br/>
            <a:r>
              <a:t>  right: 0;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ommon us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Common use</a:t>
            </a:r>
          </a:p>
        </p:txBody>
      </p:sp>
      <p:sp>
        <p:nvSpPr>
          <p:cNvPr id="310" name="position: absolut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absolute</a:t>
            </a:r>
          </a:p>
        </p:txBody>
      </p:sp>
      <p:sp>
        <p:nvSpPr>
          <p:cNvPr id="311" name="Dropdown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98033" indent="-1058333">
              <a:buFont typeface="Times Roman"/>
            </a:pPr>
            <a:r>
              <a:t>Dropdowns</a:t>
            </a:r>
          </a:p>
          <a:p>
            <a:pPr marL="1198033" indent="-1058333">
              <a:buFont typeface="Times Roman"/>
            </a:pPr>
            <a:r>
              <a:t>Tooltips</a:t>
            </a:r>
          </a:p>
          <a:p>
            <a:pPr marL="1198033" indent="-1058333">
              <a:buFont typeface="Times Roman"/>
            </a:pPr>
            <a:r>
              <a:t>Modals (inside containers)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What it mea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it means</a:t>
            </a:r>
          </a:p>
        </p:txBody>
      </p:sp>
      <p:sp>
        <p:nvSpPr>
          <p:cNvPr id="314" name="position: fix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fixed</a:t>
            </a:r>
          </a:p>
        </p:txBody>
      </p:sp>
      <p:sp>
        <p:nvSpPr>
          <p:cNvPr id="315" name="Removed from document flow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Removed from document flow</a:t>
            </a:r>
          </a:p>
          <a:p>
            <a:pPr/>
            <a:r>
              <a:t>Positioned </a:t>
            </a:r>
            <a:r>
              <a:t>relative to the viewport</a:t>
            </a:r>
          </a:p>
          <a:p>
            <a:pPr/>
            <a:r>
              <a:t>Does </a:t>
            </a:r>
            <a:r>
              <a:t>not move on scroll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Key character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characteristics</a:t>
            </a:r>
          </a:p>
        </p:txBody>
      </p:sp>
      <p:sp>
        <p:nvSpPr>
          <p:cNvPr id="318" name="position: fix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fixed</a:t>
            </a:r>
          </a:p>
        </p:txBody>
      </p:sp>
      <p:sp>
        <p:nvSpPr>
          <p:cNvPr id="319" name="Always stays visibl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Always stays visible</a:t>
            </a:r>
          </a:p>
          <a:p>
            <a:pPr/>
            <a:r>
              <a:t>Independent of parent containers</a:t>
            </a:r>
          </a:p>
          <a:p>
            <a:pPr/>
            <a:r>
              <a:t>Example</a:t>
            </a:r>
            <a:br/>
            <a:r>
              <a:t>css</a:t>
            </a:r>
            <a:br/>
            <a:r>
              <a:t>.navbar {</a:t>
            </a:r>
            <a:br/>
            <a:r>
              <a:t>  position: fixed;</a:t>
            </a:r>
            <a:br/>
            <a:r>
              <a:t>  top: 0;</a:t>
            </a:r>
            <a:br/>
            <a:r>
              <a:t>  width: 100%;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ommon us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Common use</a:t>
            </a:r>
          </a:p>
        </p:txBody>
      </p:sp>
      <p:sp>
        <p:nvSpPr>
          <p:cNvPr id="322" name="position: fixe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fixed</a:t>
            </a:r>
          </a:p>
        </p:txBody>
      </p:sp>
      <p:sp>
        <p:nvSpPr>
          <p:cNvPr id="323" name="Fixed header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Fixed headers</a:t>
            </a:r>
          </a:p>
          <a:p>
            <a:pPr/>
            <a:r>
              <a:t>Floating action buttons</a:t>
            </a:r>
          </a:p>
          <a:p>
            <a:pPr/>
            <a:r>
              <a:t>Chat widgets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What it mean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What it means</a:t>
            </a:r>
          </a:p>
        </p:txBody>
      </p:sp>
      <p:sp>
        <p:nvSpPr>
          <p:cNvPr id="326" name="position: stick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sticky</a:t>
            </a:r>
          </a:p>
        </p:txBody>
      </p:sp>
      <p:sp>
        <p:nvSpPr>
          <p:cNvPr id="327" name="Hybrid of relative and fixed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Hybrid of relative and fixed</a:t>
            </a:r>
          </a:p>
          <a:p>
            <a:pPr/>
            <a:r>
              <a:t>Behaves as relative until a scroll threshold</a:t>
            </a:r>
          </a:p>
          <a:p>
            <a:pPr/>
            <a:r>
              <a:t>Then sticks like fixed within its parent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Key character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characteristics</a:t>
            </a:r>
          </a:p>
        </p:txBody>
      </p:sp>
      <p:sp>
        <p:nvSpPr>
          <p:cNvPr id="330" name="position: stick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sticky</a:t>
            </a:r>
          </a:p>
        </p:txBody>
      </p:sp>
      <p:sp>
        <p:nvSpPr>
          <p:cNvPr id="331" name="Requires top, left, etc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Requires top, left, etc.</a:t>
            </a:r>
          </a:p>
          <a:p>
            <a:pPr/>
            <a:r>
              <a:t>Works only within parent boundaries</a:t>
            </a:r>
          </a:p>
          <a:p>
            <a:pPr/>
            <a:r>
              <a:t>Parent must not have overflow: hidden</a:t>
            </a:r>
          </a:p>
          <a:p>
            <a:pPr/>
            <a:r>
              <a:t> Example</a:t>
            </a:r>
            <a:br/>
            <a:r>
              <a:t>css</a:t>
            </a:r>
            <a:br/>
            <a:r>
              <a:t>.header {</a:t>
            </a:r>
            <a:br/>
            <a:r>
              <a:t>  position: sticky;</a:t>
            </a:r>
            <a:br/>
            <a:r>
              <a:t>  top: 0;</a:t>
            </a:r>
            <a:br/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Key characteristics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Key characteristics</a:t>
            </a:r>
          </a:p>
        </p:txBody>
      </p:sp>
      <p:sp>
        <p:nvSpPr>
          <p:cNvPr id="334" name="position: stick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position: sticky</a:t>
            </a:r>
          </a:p>
        </p:txBody>
      </p:sp>
      <p:sp>
        <p:nvSpPr>
          <p:cNvPr id="335" name="Section header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Section headers</a:t>
            </a:r>
          </a:p>
          <a:p>
            <a:pPr/>
            <a:r>
              <a:t>Sticky table rows</a:t>
            </a:r>
          </a:p>
          <a:p>
            <a:pPr/>
            <a:r>
              <a:t>Sidebar navigation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Table 1"/>
          <p:cNvGraphicFramePr/>
          <p:nvPr/>
        </p:nvGraphicFramePr>
        <p:xfrm>
          <a:off x="1132762" y="2525393"/>
          <a:ext cx="21982034" cy="987873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77979"/>
                <a:gridCol w="3329072"/>
                <a:gridCol w="7869962"/>
                <a:gridCol w="2346306"/>
                <a:gridCol w="5646013"/>
              </a:tblGrid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Position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In Flow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Relative To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Scrolls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Typical Use Case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static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Normal flow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Default layout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relative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Itself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Offset / parent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absolute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Nearest positioned parent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Overlays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fixed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Viewport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Persistent UI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64433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sticky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Yes → No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Parent + viewport logic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Partial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Smart headers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ule of thumb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Rule of thumb</a:t>
            </a:r>
          </a:p>
        </p:txBody>
      </p:sp>
      <p:sp>
        <p:nvSpPr>
          <p:cNvPr id="340" name="Normal layout → static…"/>
          <p:cNvSpPr txBox="1"/>
          <p:nvPr>
            <p:ph type="body" idx="1"/>
          </p:nvPr>
        </p:nvSpPr>
        <p:spPr>
          <a:xfrm>
            <a:off x="1206500" y="2893807"/>
            <a:ext cx="21971000" cy="9610709"/>
          </a:xfrm>
          <a:prstGeom prst="rect">
            <a:avLst/>
          </a:prstGeom>
        </p:spPr>
        <p:txBody>
          <a:bodyPr/>
          <a:lstStyle/>
          <a:p>
            <a:pPr/>
            <a:r>
              <a:t>Normal layout → static</a:t>
            </a:r>
          </a:p>
          <a:p>
            <a:pPr/>
            <a:r>
              <a:t>Small adjustments → relative</a:t>
            </a:r>
          </a:p>
          <a:p>
            <a:pPr/>
            <a:r>
              <a:t>Overlay inside a container → absolute</a:t>
            </a:r>
          </a:p>
          <a:p>
            <a:pPr/>
            <a:r>
              <a:t>Always visible UI → fixed</a:t>
            </a:r>
          </a:p>
          <a:p>
            <a:pPr/>
            <a:r>
              <a:t>Scroll-aware UI → sticky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Angular, futuristic, white corridor with shadows" descr="Angular, futuristic, white corridor with shadows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rcRect l="0" t="7695" r="0" b="10119"/>
          <a:stretch>
            <a:fillRect/>
          </a:stretch>
        </p:blipFill>
        <p:spPr>
          <a:xfrm>
            <a:off x="7661619" y="-65259"/>
            <a:ext cx="11182425" cy="13785476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Use Flexbox core properties (justify-content, align-items, flex-wrap, gap) to desig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104">
              <a:defRPr spc="-97" sz="9720"/>
            </a:lvl1pPr>
          </a:lstStyle>
          <a:p>
            <a:pPr/>
            <a:r>
              <a:t>Use Flexbox core properties (justify-content, align-items, flex-wrap, gap) to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Flexbox (Flexible Box Layout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Flexbox (Flexible Box Layout)</a:t>
            </a:r>
          </a:p>
        </p:txBody>
      </p:sp>
      <p:sp>
        <p:nvSpPr>
          <p:cNvPr id="347" name="Designing Layouts Using Flexbox Core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7">
              <a:defRPr spc="-77" sz="7700"/>
            </a:lvl1pPr>
          </a:lstStyle>
          <a:p>
            <a:pPr/>
            <a:r>
              <a:t>Designing Layouts Using Flexbox Core Properties</a:t>
            </a:r>
          </a:p>
        </p:txBody>
      </p:sp>
      <p:sp>
        <p:nvSpPr>
          <p:cNvPr id="348" name="Flexbox stands for Flexible Box Layout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802682" indent="-709083" defTabSz="238252">
              <a:spcBef>
                <a:spcPts val="3100"/>
              </a:spcBef>
              <a:buFont typeface="Times Roman"/>
              <a:defRPr sz="2680"/>
            </a:pPr>
            <a:r>
              <a:t>Flexbox stands for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Flexible Box Layout</a:t>
            </a:r>
          </a:p>
          <a:p>
            <a:pPr marL="802682" indent="-709083" defTabSz="238252">
              <a:spcBef>
                <a:spcPts val="3100"/>
              </a:spcBef>
              <a:buFont typeface="Times Roman"/>
              <a:defRPr sz="2680"/>
            </a:pPr>
            <a:r>
              <a:t>It is a </a:t>
            </a:r>
            <a:r>
              <a:t>one-dimensional CSS layout system</a:t>
            </a:r>
          </a:p>
          <a:p>
            <a:pPr marL="802682" indent="-709083" defTabSz="238252">
              <a:spcBef>
                <a:spcPts val="3100"/>
              </a:spcBef>
              <a:buFont typeface="Times Roman"/>
              <a:defRPr sz="2680"/>
            </a:pPr>
            <a:r>
              <a:t>Used to arrange elements in:</a:t>
            </a:r>
          </a:p>
          <a:p>
            <a:pPr lvl="1" marL="1109006" indent="-709083" defTabSz="238252">
              <a:spcBef>
                <a:spcPts val="3100"/>
              </a:spcBef>
              <a:buFont typeface="Times Roman"/>
              <a:buChar char="◦"/>
              <a:defRPr sz="2680"/>
            </a:pPr>
            <a:r>
              <a:t>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row</a:t>
            </a:r>
            <a:r>
              <a:t> (horizontal), or</a:t>
            </a:r>
          </a:p>
          <a:p>
            <a:pPr lvl="1" marL="1109006" indent="-709083" defTabSz="238252">
              <a:spcBef>
                <a:spcPts val="3100"/>
              </a:spcBef>
              <a:buFont typeface="Times Roman"/>
              <a:buChar char="◦"/>
              <a:defRPr sz="2680"/>
            </a:pPr>
            <a:r>
              <a:t>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column</a:t>
            </a:r>
            <a:r>
              <a:t> (vertical)</a:t>
            </a:r>
          </a:p>
          <a:p>
            <a:pPr marL="802682" indent="-709083" defTabSz="238252">
              <a:spcBef>
                <a:spcPts val="3100"/>
              </a:spcBef>
              <a:buFont typeface="Times Roman"/>
              <a:defRPr sz="2680"/>
            </a:pPr>
            <a:r>
              <a:t>Designed to:</a:t>
            </a:r>
          </a:p>
          <a:p>
            <a:pPr lvl="1" marL="1109006" indent="-709083" defTabSz="238252">
              <a:spcBef>
                <a:spcPts val="3100"/>
              </a:spcBef>
              <a:buFont typeface="Times Roman"/>
              <a:buChar char="◦"/>
              <a:defRPr sz="2680"/>
            </a:pPr>
            <a:r>
              <a:t>Distribute space efficiently</a:t>
            </a:r>
          </a:p>
          <a:p>
            <a:pPr lvl="1" marL="1109006" indent="-709083" defTabSz="238252">
              <a:spcBef>
                <a:spcPts val="3100"/>
              </a:spcBef>
              <a:buFont typeface="Times Roman"/>
              <a:buChar char="◦"/>
              <a:defRPr sz="2680"/>
            </a:pPr>
            <a:r>
              <a:t>Align items easily</a:t>
            </a:r>
          </a:p>
          <a:p>
            <a:pPr lvl="1" marL="1109006" indent="-709083" defTabSz="238252">
              <a:spcBef>
                <a:spcPts val="3100"/>
              </a:spcBef>
              <a:buFont typeface="Times Roman"/>
              <a:buChar char="◦"/>
              <a:defRPr sz="2680"/>
            </a:pPr>
            <a:r>
              <a:t>Build responsive layouts</a:t>
            </a:r>
          </a:p>
          <a:p>
            <a:pPr marL="802682" indent="-709083" defTabSz="238252">
              <a:spcBef>
                <a:spcPts val="3100"/>
              </a:spcBef>
              <a:buFont typeface="Times Roman"/>
              <a:defRPr sz="2680"/>
            </a:pPr>
            <a:r>
              <a:t>Layout adapts automatically to different screen sizes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Flexbox Layout Model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Flexbox Layout Model</a:t>
            </a:r>
          </a:p>
        </p:txBody>
      </p:sp>
      <p:sp>
        <p:nvSpPr>
          <p:cNvPr id="351" name="Designing Layouts Using Flexbox Core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7">
              <a:defRPr spc="-77" sz="7700"/>
            </a:lvl1pPr>
          </a:lstStyle>
          <a:p>
            <a:pPr/>
            <a:r>
              <a:t>Designing Layouts Using Flexbox Core Properties</a:t>
            </a:r>
          </a:p>
        </p:txBody>
      </p:sp>
      <p:sp>
        <p:nvSpPr>
          <p:cNvPr id="352" name="Flexbox follows a parent–child model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1198033" indent="-1058333">
              <a:buFont typeface="Times Roman"/>
            </a:pPr>
            <a:r>
              <a:t>Flexbox follows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parent–child model</a:t>
            </a:r>
          </a:p>
          <a:p>
            <a:pPr marL="1198033" indent="-1058333">
              <a:buFont typeface="Times Roman"/>
            </a:pPr>
            <a:r>
              <a:t>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parent element</a:t>
            </a:r>
            <a:r>
              <a:t> becomes the flex container</a:t>
            </a:r>
          </a:p>
          <a:p>
            <a:pPr marL="1198033" indent="-1058333">
              <a:buFont typeface="Times Roman"/>
            </a:pPr>
            <a:r>
              <a:t>All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direct children</a:t>
            </a:r>
            <a:r>
              <a:t> become flex items</a:t>
            </a:r>
          </a:p>
          <a:p>
            <a:pPr marL="1198033" indent="-1058333">
              <a:buFont typeface="Times Roman"/>
            </a:pPr>
            <a:r>
              <a:t>Layout behavior is controlled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only by the parent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Designing Layouts Using Flexbox Core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7">
              <a:defRPr spc="-77" sz="7700"/>
            </a:lvl1pPr>
          </a:lstStyle>
          <a:p>
            <a:pPr/>
            <a:r>
              <a:t>Designing Layouts Using Flexbox Core Properties</a:t>
            </a:r>
          </a:p>
        </p:txBody>
      </p:sp>
      <p:sp>
        <p:nvSpPr>
          <p:cNvPr id="355" name="Flexbox is enabled using: display: flex;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Flexbox is enabled using:</a:t>
            </a:r>
            <a:br/>
            <a:r>
              <a:t>display: flex; </a:t>
            </a:r>
          </a:p>
          <a:p>
            <a:pPr/>
            <a:r>
              <a:t>Effects of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  <a:r>
              <a:t>display: flex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: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/>
            <a:r>
              <a:t>Children align in a row by default</a:t>
            </a:r>
          </a:p>
          <a:p>
            <a:pPr/>
            <a:r>
              <a:t>Items become flexible in size</a:t>
            </a:r>
          </a:p>
          <a:p>
            <a:pPr/>
            <a:r>
              <a:t>Parent controls alignment and spacing</a:t>
            </a:r>
          </a:p>
        </p:txBody>
      </p:sp>
      <p:sp>
        <p:nvSpPr>
          <p:cNvPr id="356" name="Flex Container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Flex Container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Flexbox Axes(Main Axis and Cross Axis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Flexbox Axes(Main Axis and Cross Axis)</a:t>
            </a:r>
          </a:p>
        </p:txBody>
      </p:sp>
      <p:sp>
        <p:nvSpPr>
          <p:cNvPr id="359" name="Designing Layouts Using Flexbox Core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7">
              <a:defRPr spc="-77" sz="7700"/>
            </a:lvl1pPr>
          </a:lstStyle>
          <a:p>
            <a:pPr/>
            <a:r>
              <a:t>Designing Layouts Using Flexbox Core Properties</a:t>
            </a:r>
          </a:p>
        </p:txBody>
      </p:sp>
      <p:sp>
        <p:nvSpPr>
          <p:cNvPr id="360" name="Main Axi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Main Axis</a:t>
            </a:r>
          </a:p>
          <a:p>
            <a:pPr lvl="1"/>
            <a:r>
              <a:t>Primary direction of layout</a:t>
            </a:r>
          </a:p>
          <a:p>
            <a:pPr lvl="1"/>
            <a:r>
              <a:t>Default direction: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left to right</a:t>
            </a:r>
            <a:endParaRPr b="1">
              <a:latin typeface="Avenir Next Regular"/>
              <a:ea typeface="Avenir Next Regular"/>
              <a:cs typeface="Avenir Next Regular"/>
              <a:sym typeface="Avenir Next Regular"/>
            </a:endParaRPr>
          </a:p>
          <a:p>
            <a:pPr lvl="1"/>
            <a:r>
              <a:t>Controlled by:</a:t>
            </a:r>
            <a:br/>
            <a:r>
              <a:t>         justify-content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Flexbox Axes(Main Axis and Cross Axis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Flexbox Axes(Main Axis and Cross Axis)</a:t>
            </a:r>
          </a:p>
        </p:txBody>
      </p:sp>
      <p:sp>
        <p:nvSpPr>
          <p:cNvPr id="363" name="Designing Layouts Using Flexbox Core Properti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77567">
              <a:defRPr spc="-77" sz="7700"/>
            </a:lvl1pPr>
          </a:lstStyle>
          <a:p>
            <a:pPr/>
            <a:r>
              <a:t>Designing Layouts Using Flexbox Core Properties</a:t>
            </a:r>
          </a:p>
        </p:txBody>
      </p:sp>
      <p:sp>
        <p:nvSpPr>
          <p:cNvPr id="364" name="Cross Axis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Cross Axis</a:t>
            </a:r>
          </a:p>
          <a:p>
            <a:pPr lvl="1"/>
            <a:r>
              <a:t>Direction perpendicular to main axis</a:t>
            </a:r>
          </a:p>
          <a:p>
            <a:pPr lvl="1"/>
            <a:r>
              <a:t>Default direction: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top to bottom</a:t>
            </a:r>
          </a:p>
          <a:p>
            <a:pPr lvl="1"/>
            <a:r>
              <a:t>Controlled by:</a:t>
            </a:r>
            <a:br/>
            <a:r>
              <a:t>      align-items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justify-content"/>
          <p:cNvSpPr txBox="1"/>
          <p:nvPr>
            <p:ph type="title"/>
          </p:nvPr>
        </p:nvSpPr>
        <p:spPr>
          <a:xfrm>
            <a:off x="1181100" y="6350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justify-content</a:t>
            </a:r>
          </a:p>
        </p:txBody>
      </p:sp>
      <p:sp>
        <p:nvSpPr>
          <p:cNvPr id="367" name="Controls alignment along the main axis…"/>
          <p:cNvSpPr txBox="1"/>
          <p:nvPr>
            <p:ph type="body" idx="1"/>
          </p:nvPr>
        </p:nvSpPr>
        <p:spPr>
          <a:xfrm>
            <a:off x="1206500" y="3049425"/>
            <a:ext cx="21971000" cy="9455091"/>
          </a:xfrm>
          <a:prstGeom prst="rect">
            <a:avLst/>
          </a:prstGeom>
        </p:spPr>
        <p:txBody>
          <a:bodyPr/>
          <a:lstStyle/>
          <a:p>
            <a:pPr marL="283463" indent="-283463" defTabSz="220472">
              <a:spcBef>
                <a:spcPts val="2900"/>
              </a:spcBef>
              <a:defRPr sz="2480"/>
            </a:pPr>
            <a:r>
              <a:t>Controls alignment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along the main axis</a:t>
            </a:r>
          </a:p>
          <a:p>
            <a:pPr marL="283463" indent="-283463" defTabSz="220472">
              <a:spcBef>
                <a:spcPts val="2900"/>
              </a:spcBef>
              <a:defRPr sz="2480"/>
            </a:pPr>
            <a:r>
              <a:t>Affects </a:t>
            </a:r>
            <a:r>
              <a:t>horizontal spacing</a:t>
            </a:r>
            <a:r>
              <a:t> (default)</a:t>
            </a:r>
          </a:p>
          <a:p>
            <a:pPr marL="283463" indent="-283463" defTabSz="220472">
              <a:spcBef>
                <a:spcPts val="2900"/>
              </a:spcBef>
              <a:defRPr sz="2480"/>
            </a:pPr>
            <a:r>
              <a:t>Common Values:</a:t>
            </a:r>
            <a:endParaRPr sz="806">
              <a:latin typeface="Courier"/>
              <a:ea typeface="Courier"/>
              <a:cs typeface="Courier"/>
              <a:sym typeface="Courier"/>
            </a:endParaRP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Flex-start</a:t>
            </a:r>
            <a:br/>
            <a:r>
              <a:t>items align at the start</a:t>
            </a: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center</a:t>
            </a:r>
            <a:br/>
            <a:r>
              <a:t>Items align at the center</a:t>
            </a: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flex-end</a:t>
            </a:r>
            <a:br/>
            <a:r>
              <a:t>Items align at the end</a:t>
            </a: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space-between</a:t>
            </a:r>
            <a:br/>
            <a:r>
              <a:t>Equal space between items, none at edges</a:t>
            </a: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space-around</a:t>
            </a:r>
            <a:br/>
            <a:r>
              <a:t>Equal space around items</a:t>
            </a:r>
          </a:p>
          <a:p>
            <a:pPr lvl="1" marL="566927" indent="-283463" defTabSz="220472">
              <a:spcBef>
                <a:spcPts val="2900"/>
              </a:spcBef>
              <a:defRPr sz="2480"/>
            </a:pPr>
            <a:r>
              <a:t>space-evenly</a:t>
            </a:r>
            <a:br/>
            <a:r>
              <a:t>Equal space between items and edges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align-items"/>
          <p:cNvSpPr txBox="1"/>
          <p:nvPr>
            <p:ph type="title"/>
          </p:nvPr>
        </p:nvSpPr>
        <p:spPr>
          <a:xfrm>
            <a:off x="1181100" y="6350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align-items</a:t>
            </a:r>
          </a:p>
        </p:txBody>
      </p:sp>
      <p:sp>
        <p:nvSpPr>
          <p:cNvPr id="370" name="Controls alignment along the cross axis…"/>
          <p:cNvSpPr txBox="1"/>
          <p:nvPr>
            <p:ph type="body" idx="1"/>
          </p:nvPr>
        </p:nvSpPr>
        <p:spPr>
          <a:xfrm>
            <a:off x="1206500" y="3049425"/>
            <a:ext cx="21971000" cy="9455091"/>
          </a:xfrm>
          <a:prstGeom prst="rect">
            <a:avLst/>
          </a:prstGeom>
        </p:spPr>
        <p:txBody>
          <a:bodyPr/>
          <a:lstStyle/>
          <a:p>
            <a:pPr marL="333756" indent="-333756" defTabSz="259588">
              <a:spcBef>
                <a:spcPts val="3400"/>
              </a:spcBef>
              <a:defRPr sz="2920"/>
            </a:pPr>
            <a:r>
              <a:t>Controls alignment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along the cross axis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Affects </a:t>
            </a:r>
            <a:r>
              <a:t>vertical alignment</a:t>
            </a:r>
            <a:r>
              <a:t> (default)</a:t>
            </a:r>
          </a:p>
          <a:p>
            <a:pPr marL="333756" indent="-333756" defTabSz="259588">
              <a:spcBef>
                <a:spcPts val="3400"/>
              </a:spcBef>
              <a:defRPr sz="2920"/>
            </a:pPr>
            <a:r>
              <a:t>Common Values: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stretch (default)</a:t>
            </a:r>
            <a:br/>
            <a:r>
              <a:t>Items stretch to fill container height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flex-start</a:t>
            </a:r>
            <a:br/>
            <a:r>
              <a:t>Items align to the top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center</a:t>
            </a:r>
            <a:br/>
            <a:r>
              <a:t>Items align vertically in the center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flex-end</a:t>
            </a:r>
            <a:br/>
            <a:r>
              <a:t>Items align to the bottom</a:t>
            </a:r>
          </a:p>
          <a:p>
            <a:pPr lvl="1" marL="667512" indent="-333756" defTabSz="259588">
              <a:spcBef>
                <a:spcPts val="3400"/>
              </a:spcBef>
              <a:defRPr sz="2920"/>
            </a:pPr>
            <a:r>
              <a:t>baseline</a:t>
            </a:r>
            <a:br/>
            <a:r>
              <a:t>Items align based on text baseline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flex-wrap"/>
          <p:cNvSpPr txBox="1"/>
          <p:nvPr>
            <p:ph type="title"/>
          </p:nvPr>
        </p:nvSpPr>
        <p:spPr>
          <a:xfrm>
            <a:off x="1181100" y="6350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flex-wrap</a:t>
            </a:r>
          </a:p>
        </p:txBody>
      </p:sp>
      <p:sp>
        <p:nvSpPr>
          <p:cNvPr id="373" name="Controls whether items stay on one line or wrap…"/>
          <p:cNvSpPr txBox="1"/>
          <p:nvPr>
            <p:ph type="body" idx="1"/>
          </p:nvPr>
        </p:nvSpPr>
        <p:spPr>
          <a:xfrm>
            <a:off x="1206500" y="3049425"/>
            <a:ext cx="21971000" cy="9455091"/>
          </a:xfrm>
          <a:prstGeom prst="rect">
            <a:avLst/>
          </a:prstGeom>
        </p:spPr>
        <p:txBody>
          <a:bodyPr/>
          <a:lstStyle/>
          <a:p>
            <a:pPr/>
            <a:r>
              <a:t>Controls whether items stay on one line or wrap</a:t>
            </a:r>
          </a:p>
          <a:p>
            <a:pPr/>
            <a:r>
              <a:t>Values:</a:t>
            </a:r>
          </a:p>
          <a:p>
            <a:pPr lvl="1"/>
            <a:r>
              <a:t>nowrap (default)</a:t>
            </a:r>
            <a:br/>
            <a:r>
              <a:t>All items stay on one line</a:t>
            </a:r>
          </a:p>
          <a:p>
            <a:pPr lvl="1"/>
            <a:r>
              <a:t>wrap</a:t>
            </a:r>
            <a:br/>
            <a:r>
              <a:t>Items move to the next line if needed</a:t>
            </a:r>
          </a:p>
          <a:p>
            <a:pPr lvl="1"/>
            <a:r>
              <a:t>wrap-reverse</a:t>
            </a:r>
            <a:br/>
            <a:r>
              <a:t>Items wrap in reverse order</a:t>
            </a:r>
          </a:p>
          <a:p>
            <a:pPr lvl="1"/>
            <a:r>
              <a:t>Used to create </a:t>
            </a:r>
            <a:r>
              <a:t>responsive layouts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ap"/>
          <p:cNvSpPr txBox="1"/>
          <p:nvPr>
            <p:ph type="title"/>
          </p:nvPr>
        </p:nvSpPr>
        <p:spPr>
          <a:xfrm>
            <a:off x="1181100" y="635000"/>
            <a:ext cx="21971000" cy="1689100"/>
          </a:xfrm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Gap</a:t>
            </a:r>
          </a:p>
        </p:txBody>
      </p:sp>
      <p:sp>
        <p:nvSpPr>
          <p:cNvPr id="376" name="Defines space between flex items…"/>
          <p:cNvSpPr txBox="1"/>
          <p:nvPr>
            <p:ph type="body" idx="1"/>
          </p:nvPr>
        </p:nvSpPr>
        <p:spPr>
          <a:xfrm>
            <a:off x="1206500" y="3049425"/>
            <a:ext cx="21971000" cy="9455091"/>
          </a:xfrm>
          <a:prstGeom prst="rect">
            <a:avLst/>
          </a:prstGeom>
        </p:spPr>
        <p:txBody>
          <a:bodyPr/>
          <a:lstStyle/>
          <a:p>
            <a:pPr/>
            <a:r>
              <a:t>Defines space </a:t>
            </a:r>
            <a:r>
              <a:t>between flex items</a:t>
            </a:r>
          </a:p>
          <a:p>
            <a:pPr/>
            <a:r>
              <a:t>Applies evenly in all directions</a:t>
            </a:r>
          </a:p>
          <a:p>
            <a:pPr/>
            <a:r>
              <a:t>Works with wrapping layouts</a:t>
            </a:r>
          </a:p>
          <a:p>
            <a:pPr/>
            <a:r>
              <a:t>Key Points</a:t>
            </a:r>
          </a:p>
          <a:p>
            <a:pPr lvl="1"/>
            <a:r>
              <a:t>No spacing at container edges</a:t>
            </a:r>
          </a:p>
          <a:p>
            <a:pPr lvl="1"/>
            <a:r>
              <a:t>Replaces margins between items</a:t>
            </a:r>
          </a:p>
          <a:p>
            <a:pPr lvl="1"/>
            <a:r>
              <a:t>Ensures consistent spacing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Combined Flexbox Layout Examp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Combined Flexbox Layout Example</a:t>
            </a:r>
          </a:p>
        </p:txBody>
      </p:sp>
      <p:sp>
        <p:nvSpPr>
          <p:cNvPr id="379" name=".container {   display: flex;   justify-content: space-between;   align-items: center;   flex-wrap: wrap;   gap: 16px; }…"/>
          <p:cNvSpPr txBox="1"/>
          <p:nvPr>
            <p:ph type="body" idx="1"/>
          </p:nvPr>
        </p:nvSpPr>
        <p:spPr>
          <a:xfrm>
            <a:off x="1206500" y="2825203"/>
            <a:ext cx="21971000" cy="9679313"/>
          </a:xfrm>
          <a:prstGeom prst="rect">
            <a:avLst/>
          </a:prstGeom>
        </p:spPr>
        <p:txBody>
          <a:bodyPr/>
          <a:lstStyle/>
          <a:p>
            <a:pPr marL="0" indent="0" defTabSz="291591">
              <a:spcBef>
                <a:spcPts val="3800"/>
              </a:spcBef>
              <a:buSzTx/>
              <a:buNone/>
              <a:defRPr sz="3280"/>
            </a:pPr>
            <a:r>
              <a:t>.container {</a:t>
            </a:r>
            <a:br/>
            <a:r>
              <a:t>  display: flex;</a:t>
            </a:r>
            <a:br/>
            <a:r>
              <a:t>  justify-content: space-between;</a:t>
            </a:r>
            <a:br/>
            <a:r>
              <a:t>  align-items: center;</a:t>
            </a:r>
            <a:br/>
            <a:r>
              <a:t>  flex-wrap: wrap;</a:t>
            </a:r>
            <a:br/>
            <a:r>
              <a:t>  gap: 16px;</a:t>
            </a:r>
            <a:br/>
            <a:r>
              <a:t>}</a:t>
            </a:r>
          </a:p>
          <a:p>
            <a:pPr marL="374904" indent="-374904" defTabSz="291591">
              <a:spcBef>
                <a:spcPts val="3800"/>
              </a:spcBef>
              <a:defRPr sz="3280"/>
            </a:pPr>
            <a:r>
              <a:t>Resulting Behavior: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Items spread evenly across the row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Items are vertically centered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Items wrap to new rows on smaller screens</a:t>
            </a:r>
          </a:p>
          <a:p>
            <a:pPr lvl="1" marL="749808" indent="-374904" defTabSz="291591">
              <a:spcBef>
                <a:spcPts val="3800"/>
              </a:spcBef>
              <a:defRPr sz="3280"/>
            </a:pPr>
            <a:r>
              <a:t>Spacing remains consistent</a:t>
            </a:r>
          </a:p>
          <a:p>
            <a:pPr lvl="1" marL="487375" indent="-112471" defTabSz="374904">
              <a:spcBef>
                <a:spcPts val="900"/>
              </a:spcBef>
              <a:defRPr sz="984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Responsive Layout Behavio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Responsive Layout Behavior</a:t>
            </a:r>
          </a:p>
        </p:txBody>
      </p:sp>
      <p:sp>
        <p:nvSpPr>
          <p:cNvPr id="382" name="Large screens…"/>
          <p:cNvSpPr txBox="1"/>
          <p:nvPr>
            <p:ph type="body" idx="1"/>
          </p:nvPr>
        </p:nvSpPr>
        <p:spPr>
          <a:xfrm>
            <a:off x="1206500" y="2998700"/>
            <a:ext cx="21971000" cy="9505816"/>
          </a:xfrm>
          <a:prstGeom prst="rect">
            <a:avLst/>
          </a:prstGeom>
        </p:spPr>
        <p:txBody>
          <a:bodyPr/>
          <a:lstStyle/>
          <a:p>
            <a:pPr/>
            <a:r>
              <a:t>L</a:t>
            </a:r>
            <a:r>
              <a:rPr>
                <a:solidFill>
                  <a:srgbClr val="000000"/>
                </a:solidFill>
              </a:rPr>
              <a:t>arge screens</a:t>
            </a:r>
            <a:endParaRPr>
              <a:solidFill>
                <a:srgbClr val="000000"/>
              </a:solidFill>
            </a:endParaRPr>
          </a:p>
          <a:p>
            <a:pPr lvl="1" marL="1655233" indent="-1058333">
              <a:buFont typeface="Times Roman"/>
              <a:buChar char="◦"/>
            </a:pPr>
            <a:r>
              <a:rPr>
                <a:solidFill>
                  <a:srgbClr val="000000"/>
                </a:solidFill>
              </a:rPr>
              <a:t>Items appear in one row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Font typeface="Times Roman"/>
            </a:pPr>
            <a:r>
              <a:rPr>
                <a:solidFill>
                  <a:srgbClr val="000000"/>
                </a:solidFill>
              </a:rPr>
              <a:t>Medium screens</a:t>
            </a:r>
            <a:endParaRPr>
              <a:solidFill>
                <a:srgbClr val="000000"/>
              </a:solidFill>
            </a:endParaRPr>
          </a:p>
          <a:p>
            <a:pPr lvl="1" marL="1655233" indent="-1058333">
              <a:buFont typeface="Times Roman"/>
              <a:buChar char="◦"/>
            </a:pPr>
            <a:r>
              <a:rPr>
                <a:solidFill>
                  <a:srgbClr val="000000"/>
                </a:solidFill>
              </a:rPr>
              <a:t>Items wrap into multiple rows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Font typeface="Times Roman"/>
            </a:pPr>
            <a:r>
              <a:rPr>
                <a:solidFill>
                  <a:srgbClr val="000000"/>
                </a:solidFill>
              </a:rPr>
              <a:t>Small screens</a:t>
            </a:r>
            <a:endParaRPr>
              <a:solidFill>
                <a:srgbClr val="000000"/>
              </a:solidFill>
            </a:endParaRPr>
          </a:p>
          <a:p>
            <a:pPr lvl="1" marL="1655233" indent="-1058333">
              <a:buFont typeface="Times Roman"/>
              <a:buChar char="◦"/>
            </a:pPr>
            <a:r>
              <a:rPr>
                <a:solidFill>
                  <a:srgbClr val="000000"/>
                </a:solidFill>
              </a:rPr>
              <a:t>Items stack vertically</a:t>
            </a:r>
            <a:endParaRPr>
              <a:solidFill>
                <a:srgbClr val="000000"/>
              </a:solidFill>
            </a:endParaRPr>
          </a:p>
          <a:p>
            <a:pPr marL="1198033" indent="-1058333">
              <a:buFont typeface="Times Roman"/>
            </a:pPr>
            <a:r>
              <a:rPr>
                <a:solidFill>
                  <a:srgbClr val="000000"/>
                </a:solidFill>
              </a:rPr>
              <a:t>Achieved </a:t>
            </a:r>
            <a:r>
              <a:rPr>
                <a:solidFill>
                  <a:srgbClr val="000000"/>
                </a:solidFill>
              </a:rPr>
              <a:t>without media queries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69767" y="717653"/>
            <a:ext cx="9532233" cy="122806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32000" y="1524000"/>
            <a:ext cx="20320000" cy="1066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8145" y="1246412"/>
            <a:ext cx="16647710" cy="112231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flex-wrap-example.gif" descr="flex-wrap-example.gif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83882" y="1816157"/>
            <a:ext cx="22315169" cy="937237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Core Properties Summar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Core Properties Summary</a:t>
            </a:r>
          </a:p>
        </p:txBody>
      </p:sp>
      <p:sp>
        <p:nvSpPr>
          <p:cNvPr id="393" name="justify-content → Controls main-axis spacing…"/>
          <p:cNvSpPr txBox="1"/>
          <p:nvPr>
            <p:ph type="body" idx="1"/>
          </p:nvPr>
        </p:nvSpPr>
        <p:spPr>
          <a:xfrm>
            <a:off x="1206500" y="2465714"/>
            <a:ext cx="21971000" cy="10038802"/>
          </a:xfrm>
          <a:prstGeom prst="rect">
            <a:avLst/>
          </a:prstGeom>
        </p:spPr>
        <p:txBody>
          <a:bodyPr/>
          <a:lstStyle/>
          <a:p>
            <a:pPr marL="1027293" indent="-898769" defTabSz="327152">
              <a:spcBef>
                <a:spcPts val="4300"/>
              </a:spcBef>
              <a:buFont typeface="Courier"/>
              <a:defRPr sz="3680"/>
            </a:pPr>
            <a:r>
              <a:t>justify-content</a:t>
            </a:r>
            <a:br/>
            <a:r>
              <a:t>→ Controls main-axis spacing</a:t>
            </a:r>
          </a:p>
          <a:p>
            <a:pPr marL="1027293" indent="-898769" defTabSz="327152">
              <a:spcBef>
                <a:spcPts val="4300"/>
              </a:spcBef>
              <a:buFont typeface="Courier"/>
              <a:defRPr sz="3680"/>
            </a:pPr>
            <a:r>
              <a:t>align-items</a:t>
            </a:r>
            <a:br/>
            <a:r>
              <a:t>→ Controls cross-axis alignment</a:t>
            </a:r>
          </a:p>
          <a:p>
            <a:pPr marL="1027293" indent="-898769" defTabSz="327152">
              <a:spcBef>
                <a:spcPts val="4300"/>
              </a:spcBef>
              <a:buFont typeface="Courier"/>
              <a:defRPr sz="3680"/>
            </a:pPr>
            <a:r>
              <a:t>flex-wrap</a:t>
            </a:r>
            <a:br/>
            <a:r>
              <a:t>→ Controls line wrapping</a:t>
            </a:r>
          </a:p>
          <a:p>
            <a:pPr marL="1027293" indent="-898769" defTabSz="327152">
              <a:spcBef>
                <a:spcPts val="4300"/>
              </a:spcBef>
              <a:buFont typeface="Courier"/>
              <a:defRPr sz="3680"/>
            </a:pPr>
            <a:r>
              <a:t>gap</a:t>
            </a:r>
            <a:br/>
            <a:r>
              <a:t>→ Controls spacing between items</a:t>
            </a:r>
          </a:p>
          <a:p>
            <a:pPr marL="1027293" indent="-898769" defTabSz="327152">
              <a:spcBef>
                <a:spcPts val="4300"/>
              </a:spcBef>
              <a:buFont typeface="Courier"/>
              <a:defRPr sz="3680"/>
            </a:pPr>
            <a:r>
              <a:t>One line summary:Flexbox is a one-dimensional layout system that arranges items in a row or column and provides flexible alignment, spacing, and responsive behavior using parent-controlled properties.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Build common UI patterns: navbars, cards, split screens with Flexbox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70176">
              <a:defRPr spc="-106" sz="10680"/>
            </a:lvl1pPr>
          </a:lstStyle>
          <a:p>
            <a:pPr/>
            <a:r>
              <a:t>Build common UI patterns: navbars, cards, split screens with Flexbox.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Navbar (horizontal alignme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Navbar (horizontal alignment)</a:t>
            </a:r>
          </a:p>
        </p:txBody>
      </p:sp>
      <p:sp>
        <p:nvSpPr>
          <p:cNvPr id="398" name="Syntax: .navbar {   display: flex;   justify-content: space-between;   align-items: center; }…"/>
          <p:cNvSpPr txBox="1"/>
          <p:nvPr>
            <p:ph type="body" idx="1"/>
          </p:nvPr>
        </p:nvSpPr>
        <p:spPr>
          <a:xfrm>
            <a:off x="1206500" y="2598255"/>
            <a:ext cx="21971000" cy="9906261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Syntax:</a:t>
            </a:r>
            <a:br/>
            <a:r>
              <a:t>.navbar {</a:t>
            </a:r>
            <a:br/>
            <a:r>
              <a:t>  display: flex;</a:t>
            </a:r>
            <a:br/>
            <a:r>
              <a:t>  justify-content: space-between;</a:t>
            </a:r>
            <a:br/>
            <a:r>
              <a:t>  align-items: center;</a:t>
            </a:r>
            <a:br/>
            <a:r>
              <a:t>}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Pattern Meaning: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display: flex → enables Flexbox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justify-content: space-between → left items + right items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align-items: center → vertical centering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Navbar Groups (logo + link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Navbar Groups (logo + links)</a:t>
            </a:r>
          </a:p>
        </p:txBody>
      </p:sp>
      <p:sp>
        <p:nvSpPr>
          <p:cNvPr id="401" name="Syntax: .nav-left {   display: flex;   gap: 16px; }…"/>
          <p:cNvSpPr txBox="1"/>
          <p:nvPr>
            <p:ph type="body" idx="1"/>
          </p:nvPr>
        </p:nvSpPr>
        <p:spPr>
          <a:xfrm>
            <a:off x="1206500" y="2598255"/>
            <a:ext cx="21971000" cy="9906261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.nav-left {</a:t>
            </a:r>
            <a:br/>
            <a:r>
              <a:t>  display: flex;</a:t>
            </a:r>
            <a:br/>
            <a:r>
              <a:t>  gap: 16px;</a:t>
            </a:r>
            <a:br/>
            <a:r>
              <a:t>}</a:t>
            </a:r>
          </a:p>
          <a:p>
            <a:pPr/>
            <a:r>
              <a:t>Pattern Meaning:</a:t>
            </a:r>
          </a:p>
          <a:p>
            <a:pPr lvl="1"/>
            <a:r>
              <a:t>Groups items horizontally</a:t>
            </a:r>
          </a:p>
          <a:p>
            <a:pPr lvl="1"/>
            <a:r>
              <a:t>gap controls spacing (preferred over margins)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ard (vertical layou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Card (vertical layout)</a:t>
            </a:r>
          </a:p>
        </p:txBody>
      </p:sp>
      <p:sp>
        <p:nvSpPr>
          <p:cNvPr id="404" name="Syntax: .card {   display: flex;   flex-direction: column;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.card {</a:t>
            </a:r>
            <a:br/>
            <a:r>
              <a:t>  display: flex;</a:t>
            </a:r>
            <a:br/>
            <a:r>
              <a:t>  flex-direction: column;</a:t>
            </a:r>
            <a:br/>
            <a:r>
              <a:t>}</a:t>
            </a:r>
          </a:p>
          <a:p>
            <a:pPr/>
            <a:r>
              <a:t>Pattern Meaning</a:t>
            </a:r>
          </a:p>
          <a:p>
            <a:pPr lvl="1"/>
            <a:r>
              <a:t>Stack card sections top → bottom</a:t>
            </a:r>
          </a:p>
          <a:p>
            <a:pPr lvl="1"/>
            <a:r>
              <a:t>Default for most UI cards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Card Footer Pushed to Botto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Card Footer Pushed to Bottom</a:t>
            </a:r>
          </a:p>
        </p:txBody>
      </p:sp>
      <p:sp>
        <p:nvSpPr>
          <p:cNvPr id="407" name="Syntax: .card-footer {   margin-top: auto;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.card-footer {</a:t>
            </a:r>
            <a:br/>
            <a:r>
              <a:t>  margin-top: auto;</a:t>
            </a:r>
            <a:br/>
            <a:r>
              <a:t>}</a:t>
            </a:r>
          </a:p>
          <a:p>
            <a:pPr/>
            <a:r>
              <a:t>Pattern Meaning</a:t>
            </a:r>
          </a:p>
          <a:p>
            <a:pPr lvl="1"/>
            <a:r>
              <a:t>Pushes footer to the bottom</a:t>
            </a:r>
          </a:p>
          <a:p>
            <a:pPr lvl="1"/>
            <a:r>
              <a:t>Uses Flexbox’s free space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Card Grid (responsive row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Card Grid (responsive rows)</a:t>
            </a:r>
          </a:p>
        </p:txBody>
      </p:sp>
      <p:sp>
        <p:nvSpPr>
          <p:cNvPr id="410" name="Syntax: .card-grid {   display: flex;   flex-wrap: wrap;   gap: 16px; } .card {   flex: 1 1 250px;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 marL="420623" indent="-420623" defTabSz="327152">
              <a:spcBef>
                <a:spcPts val="4300"/>
              </a:spcBef>
              <a:defRPr sz="3680"/>
            </a:pPr>
            <a:r>
              <a:t>Syntax:</a:t>
            </a:r>
            <a:br/>
            <a:r>
              <a:t>.card-grid {</a:t>
            </a:r>
            <a:br/>
            <a:r>
              <a:t>  display: flex;</a:t>
            </a:r>
            <a:br/>
            <a:r>
              <a:t>  flex-wrap: wrap;</a:t>
            </a:r>
            <a:br/>
            <a:r>
              <a:t>  gap: 16px;</a:t>
            </a:r>
            <a:br/>
            <a:r>
              <a:t>}</a:t>
            </a:r>
            <a:br/>
            <a:r>
              <a:t>.card {</a:t>
            </a:r>
            <a:br/>
            <a:r>
              <a:t>  flex: 1 1 250px;</a:t>
            </a:r>
            <a:br/>
            <a:r>
              <a:t>}</a:t>
            </a:r>
          </a:p>
          <a:p>
            <a:pPr marL="420623" indent="-420623" defTabSz="327152">
              <a:spcBef>
                <a:spcPts val="4300"/>
              </a:spcBef>
              <a:defRPr sz="3680"/>
            </a:pPr>
            <a:r>
              <a:t>Pattern Meaning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flex-wrap: wrap → multiple rows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flex: grow shrink base-width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Split Screen (sidebar + conte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Split Screen (sidebar + content)</a:t>
            </a:r>
          </a:p>
        </p:txBody>
      </p:sp>
      <p:sp>
        <p:nvSpPr>
          <p:cNvPr id="413" name="Syntax: .split {   display: flex; 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 marL="324611" indent="-324611" defTabSz="252475">
              <a:spcBef>
                <a:spcPts val="3300"/>
              </a:spcBef>
              <a:defRPr sz="2840"/>
            </a:pPr>
            <a:r>
              <a:t>Syntax:</a:t>
            </a:r>
            <a:br/>
            <a:r>
              <a:t>.split {</a:t>
            </a:r>
            <a:br/>
            <a:r>
              <a:t>  display: flex;</a:t>
            </a:r>
            <a:br/>
            <a:r>
              <a:t> }</a:t>
            </a:r>
          </a:p>
          <a:p>
            <a:pPr marL="324611" indent="-324611" defTabSz="252475">
              <a:spcBef>
                <a:spcPts val="3300"/>
              </a:spcBef>
              <a:defRPr sz="2840"/>
            </a:pPr>
            <a:r>
              <a:t>Sidebar (fixed width)</a:t>
            </a:r>
            <a:br/>
            <a:r>
              <a:t>.sidebar {</a:t>
            </a:r>
            <a:br/>
            <a:r>
              <a:t>  flex: 0 0 260px;</a:t>
            </a:r>
            <a:br/>
            <a:r>
              <a:t>}</a:t>
            </a:r>
          </a:p>
          <a:p>
            <a:pPr marL="324611" indent="-324611" defTabSz="252475">
              <a:spcBef>
                <a:spcPts val="3300"/>
              </a:spcBef>
              <a:defRPr sz="2840"/>
            </a:pPr>
            <a:r>
              <a:t>Main Content (fill space)</a:t>
            </a:r>
            <a:br/>
            <a:r>
              <a:t>.main {</a:t>
            </a:r>
            <a:br/>
            <a:r>
              <a:t>  flex: 1;</a:t>
            </a:r>
            <a:br/>
            <a:r>
              <a:t>}</a:t>
            </a:r>
          </a:p>
          <a:p>
            <a:pPr marL="324611" indent="-324611" defTabSz="252475">
              <a:spcBef>
                <a:spcPts val="3300"/>
              </a:spcBef>
              <a:defRPr sz="2840"/>
            </a:pPr>
            <a:r>
              <a:t>Pattern Meaning:</a:t>
            </a:r>
          </a:p>
          <a:p>
            <a:pPr lvl="1" marL="649223" indent="-324611" defTabSz="252475">
              <a:spcBef>
                <a:spcPts val="3300"/>
              </a:spcBef>
              <a:defRPr sz="2840"/>
            </a:pPr>
            <a:r>
              <a:t>Sidebar stays fixed</a:t>
            </a:r>
          </a:p>
          <a:p>
            <a:pPr lvl="1" marL="649223" indent="-324611" defTabSz="252475">
              <a:spcBef>
                <a:spcPts val="3300"/>
              </a:spcBef>
              <a:defRPr sz="2840"/>
            </a:pPr>
            <a:r>
              <a:t>Main expands automatically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entering (most common interview patter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97023">
              <a:defRPr spc="-85" sz="8600"/>
            </a:lvl1pPr>
          </a:lstStyle>
          <a:p>
            <a:pPr/>
            <a:r>
              <a:t>Centering (most common interview pattern)</a:t>
            </a:r>
          </a:p>
        </p:txBody>
      </p:sp>
      <p:sp>
        <p:nvSpPr>
          <p:cNvPr id="416" name="Syntax: .centre {   display: flex;   justify-content: centre;   align-items: centre; 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.centre {</a:t>
            </a:r>
            <a:br/>
            <a:r>
              <a:t>  display: flex;</a:t>
            </a:r>
            <a:br/>
            <a:r>
              <a:t>  justify-content: centre;</a:t>
            </a:r>
            <a:br/>
            <a:r>
              <a:t>  align-items: centre;</a:t>
            </a:r>
            <a:br/>
            <a:r>
              <a:t> }</a:t>
            </a:r>
          </a:p>
          <a:p>
            <a:pPr/>
            <a:r>
              <a:t>Pattern Meaning:</a:t>
            </a:r>
          </a:p>
          <a:p>
            <a:pPr lvl="1"/>
            <a:r>
              <a:t>Perfect horizontal + vertical centering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Equal Height Colum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Equal Height Columns</a:t>
            </a:r>
          </a:p>
        </p:txBody>
      </p:sp>
      <p:sp>
        <p:nvSpPr>
          <p:cNvPr id="419" name="Syntax: .container {   display: flex; 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.container {</a:t>
            </a:r>
            <a:br/>
            <a:r>
              <a:t>  display: flex;</a:t>
            </a:r>
            <a:br/>
            <a:r>
              <a:t> }</a:t>
            </a:r>
          </a:p>
          <a:p>
            <a:pPr/>
            <a:r>
              <a:t>Pattern Meaning:</a:t>
            </a:r>
          </a:p>
          <a:p>
            <a:pPr lvl="1"/>
            <a:r>
              <a:t>Flex items automatically stretch to same height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Reverse Layout (row / column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Reverse Layout (row / column)</a:t>
            </a:r>
          </a:p>
        </p:txBody>
      </p:sp>
      <p:sp>
        <p:nvSpPr>
          <p:cNvPr id="422" name="Syntax: .container {   display: flex;   flex-direction: row-reverse;  }  container {   display: flex;   flex-direction: column-reverse;  }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.container {</a:t>
            </a:r>
            <a:br/>
            <a:r>
              <a:t>  display: flex;</a:t>
            </a:r>
            <a:br/>
            <a:r>
              <a:t>  flex-direction: row-reverse;</a:t>
            </a:r>
            <a:br/>
            <a:r>
              <a:t> }</a:t>
            </a:r>
            <a:br/>
            <a:br/>
            <a:r>
              <a:t>container {</a:t>
            </a:r>
            <a:br/>
            <a:r>
              <a:t>  display: flex;</a:t>
            </a:r>
            <a:br/>
            <a:r>
              <a:t>  flex-direction: column-reverse;</a:t>
            </a:r>
            <a:br/>
            <a:r>
              <a:t> 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Mobile Stack (responsive switch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Mobile Stack (responsive switch)</a:t>
            </a:r>
          </a:p>
        </p:txBody>
      </p:sp>
      <p:sp>
        <p:nvSpPr>
          <p:cNvPr id="425" name="Syntax: @media (max-width: 768px) {   .container {     flex-direction: column;  } }…"/>
          <p:cNvSpPr txBox="1"/>
          <p:nvPr>
            <p:ph type="body" idx="1"/>
          </p:nvPr>
        </p:nvSpPr>
        <p:spPr>
          <a:xfrm>
            <a:off x="1206500" y="3051492"/>
            <a:ext cx="21971000" cy="9453024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@media (max-width: 768px) {</a:t>
            </a:r>
            <a:br/>
            <a:r>
              <a:t>  .container {</a:t>
            </a:r>
            <a:br/>
            <a:r>
              <a:t>    flex-direction: column;</a:t>
            </a:r>
            <a:br/>
            <a:r>
              <a:t> }</a:t>
            </a:r>
            <a:br/>
            <a:r>
              <a:t>}</a:t>
            </a:r>
          </a:p>
          <a:p>
            <a:pPr/>
            <a:r>
              <a:t>One-Line Mental Model (very important)</a:t>
            </a:r>
            <a:br/>
            <a:br/>
            <a:br/>
            <a:r>
              <a:t>display:flex → direction → alignment → spacing → responsiveness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Interview-Style Summary Table"/>
          <p:cNvSpPr txBox="1"/>
          <p:nvPr>
            <p:ph type="body" sz="quarter" idx="1"/>
          </p:nvPr>
        </p:nvSpPr>
        <p:spPr>
          <a:xfrm>
            <a:off x="1206500" y="1531155"/>
            <a:ext cx="21971000" cy="1320233"/>
          </a:xfrm>
          <a:prstGeom prst="rect">
            <a:avLst/>
          </a:prstGeom>
        </p:spPr>
        <p:txBody>
          <a:bodyPr/>
          <a:lstStyle>
            <a:lvl1pPr marL="0" indent="0" defTabSz="213360">
              <a:lnSpc>
                <a:spcPct val="90000"/>
              </a:lnSpc>
              <a:spcBef>
                <a:spcPts val="0"/>
              </a:spcBef>
              <a:buSzTx/>
              <a:buNone/>
              <a:defRPr spc="-72" sz="72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Interview-Style Summary Table</a:t>
            </a:r>
          </a:p>
        </p:txBody>
      </p:sp>
      <p:graphicFrame>
        <p:nvGraphicFramePr>
          <p:cNvPr id="428" name="Table 1"/>
          <p:cNvGraphicFramePr/>
          <p:nvPr/>
        </p:nvGraphicFramePr>
        <p:xfrm>
          <a:off x="1222459" y="3378801"/>
          <a:ext cx="21951782" cy="911196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075434"/>
                <a:gridCol w="16863646"/>
              </a:tblGrid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Use Case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Key Syntax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Navbar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justify-content: space-between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Card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flex-direction: column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Footer bottom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margin-top: auto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Grid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flex-wrap: wrap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Sidebar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flex: 0 0 width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Main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flex: 1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37408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Center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justify-content + align-items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Learn CSS Grid concepts: rows, columns, track sizing, and grid template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975104">
              <a:defRPr spc="-97" sz="9720"/>
            </a:lvl1pPr>
          </a:lstStyle>
          <a:p>
            <a:pPr/>
            <a:r>
              <a:t>Learn CSS Grid concepts: rows, columns, track sizing, and grid templates.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CSS Grid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CSS Grid</a:t>
            </a:r>
          </a:p>
        </p:txBody>
      </p:sp>
      <p:sp>
        <p:nvSpPr>
          <p:cNvPr id="433" name="CSS Grid is ideal for two-dimensional layouts. I define rows and columns using ‘grid-template’, control sizing with ‘fr’ and ‘minmax’, and structure layouts cleanly using grid areas…"/>
          <p:cNvSpPr txBox="1"/>
          <p:nvPr>
            <p:ph type="body" idx="1"/>
          </p:nvPr>
        </p:nvSpPr>
        <p:spPr>
          <a:xfrm>
            <a:off x="1206500" y="3311879"/>
            <a:ext cx="21971000" cy="9192637"/>
          </a:xfrm>
          <a:prstGeom prst="rect">
            <a:avLst/>
          </a:prstGeom>
        </p:spPr>
        <p:txBody>
          <a:bodyPr/>
          <a:lstStyle/>
          <a:p>
            <a:pPr marL="429768" indent="-429768" defTabSz="334263">
              <a:spcBef>
                <a:spcPts val="4400"/>
              </a:spcBef>
              <a:defRPr sz="3759"/>
            </a:pPr>
            <a:r>
              <a:t>CSS Grid is ideal for two-dimensional layouts. I define rows and columns using ‘grid-template’, control sizing with ‘fr’ and ‘minmax’, and structure layouts cleanly using grid areas</a:t>
            </a:r>
          </a:p>
          <a:p>
            <a:pPr marL="429768" indent="-429768" defTabSz="334263">
              <a:spcBef>
                <a:spcPts val="4400"/>
              </a:spcBef>
              <a:defRPr b="1" sz="3759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Enable CSS Grid</a:t>
            </a:r>
          </a:p>
          <a:p>
            <a:pPr marL="429768" indent="-429768" defTabSz="334263">
              <a:spcBef>
                <a:spcPts val="4400"/>
              </a:spcBef>
              <a:defRPr sz="3759"/>
            </a:pPr>
            <a:r>
              <a:t>Syntax</a:t>
            </a:r>
            <a:br/>
            <a:r>
              <a:t>.container {</a:t>
            </a:r>
            <a:br/>
            <a:r>
              <a:t>  display: grid;</a:t>
            </a:r>
            <a:br/>
            <a:r>
              <a:t>}</a:t>
            </a:r>
          </a:p>
          <a:p>
            <a:pPr marL="429768" indent="-429768" defTabSz="334263">
              <a:spcBef>
                <a:spcPts val="4400"/>
              </a:spcBef>
              <a:defRPr sz="3759"/>
            </a:pPr>
            <a:r>
              <a:t>Meaning:</a:t>
            </a:r>
          </a:p>
          <a:p>
            <a:pPr lvl="1" marL="859536" indent="-429768" defTabSz="334263">
              <a:spcBef>
                <a:spcPts val="4400"/>
              </a:spcBef>
              <a:defRPr sz="3759"/>
            </a:pPr>
            <a:r>
              <a:rPr>
                <a:solidFill>
                  <a:srgbClr val="000000"/>
                </a:solidFill>
              </a:rPr>
              <a:t>Activates </a:t>
            </a:r>
            <a:r>
              <a:rPr>
                <a:solidFill>
                  <a:srgbClr val="000000"/>
                </a:solidFill>
              </a:rPr>
              <a:t>two-dimensional layout</a:t>
            </a:r>
            <a:endParaRPr>
              <a:solidFill>
                <a:srgbClr val="000000"/>
              </a:solidFill>
            </a:endParaRPr>
          </a:p>
          <a:p>
            <a:pPr lvl="1" marL="859536" indent="-429768" defTabSz="334263">
              <a:spcBef>
                <a:spcPts val="4400"/>
              </a:spcBef>
              <a:defRPr sz="3759"/>
            </a:pPr>
            <a:r>
              <a:rPr>
                <a:solidFill>
                  <a:srgbClr val="000000"/>
                </a:solidFill>
              </a:rPr>
              <a:t>Controls </a:t>
            </a:r>
            <a:r>
              <a:rPr>
                <a:solidFill>
                  <a:srgbClr val="000000"/>
                </a:solidFill>
              </a:rPr>
              <a:t>rows and columns together</a:t>
            </a:r>
            <a:r>
              <a:rPr>
                <a:solidFill>
                  <a:srgbClr val="000000"/>
                </a:solidFill>
              </a:rPr>
              <a:t> (unlike Flexbox)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Define Colum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Define Columns</a:t>
            </a:r>
          </a:p>
        </p:txBody>
      </p:sp>
      <p:sp>
        <p:nvSpPr>
          <p:cNvPr id="436" name="Syntax .container {   grid-template-columns: 200px 1fr 100px; }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</a:t>
            </a:r>
            <a:br/>
            <a:r>
              <a:t>.container {</a:t>
            </a:r>
            <a:br/>
            <a:r>
              <a:t>  grid-template-columns: 200px 1fr 100px;</a:t>
            </a:r>
            <a:br/>
            <a:r>
              <a:t>}</a:t>
            </a:r>
          </a:p>
          <a:p>
            <a:pPr/>
            <a:r>
              <a:t>Meaning:</a:t>
            </a:r>
          </a:p>
          <a:p>
            <a:pPr lvl="1"/>
            <a:r>
              <a:t>C</a:t>
            </a:r>
            <a:r>
              <a:t>reates </a:t>
            </a:r>
            <a:r>
              <a:t>3 columns</a:t>
            </a:r>
          </a:p>
          <a:p>
            <a:pPr lvl="1"/>
            <a:r>
              <a:t>Fixed → flexible → fixed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Define Row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Define Rows</a:t>
            </a:r>
          </a:p>
        </p:txBody>
      </p:sp>
      <p:sp>
        <p:nvSpPr>
          <p:cNvPr id="439" name="Syntax .container {   grid-template-rows: 60px auto 100px; }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</a:t>
            </a:r>
            <a:br/>
            <a:r>
              <a:t>.container {</a:t>
            </a:r>
            <a:br/>
            <a:r>
              <a:t>  grid-template-rows: 60px auto 100px;</a:t>
            </a:r>
            <a:br/>
            <a:r>
              <a:t>}</a:t>
            </a:r>
          </a:p>
          <a:p>
            <a:pPr/>
            <a:r>
              <a:t>Meaning:</a:t>
            </a:r>
          </a:p>
          <a:p>
            <a:pPr lvl="1"/>
            <a:r>
              <a:t>C</a:t>
            </a:r>
            <a:r>
              <a:t>reates </a:t>
            </a:r>
            <a:r>
              <a:t>3 rows</a:t>
            </a:r>
          </a:p>
          <a:p>
            <a:pPr lvl="1"/>
            <a:r>
              <a:t>Header → content → footer style layout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rack Sizing Units (Very Important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Track Sizing Units (Very Important) </a:t>
            </a:r>
          </a:p>
        </p:txBody>
      </p:sp>
      <p:sp>
        <p:nvSpPr>
          <p:cNvPr id="442" name="Example: grid-template-columns: 1fr 2fr;  Second column is twice as wide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Example:</a:t>
            </a:r>
            <a:br/>
            <a:r>
              <a:t>grid-template-columns: 1fr 2fr;</a:t>
            </a:r>
            <a:br/>
            <a:br/>
            <a:r>
              <a:t>Second column is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twice as wide</a:t>
            </a:r>
            <a:endParaRPr b="1">
              <a:latin typeface="Avenir Next Regular"/>
              <a:ea typeface="Avenir Next Regular"/>
              <a:cs typeface="Avenir Next Regular"/>
              <a:sym typeface="Avenir Next Regular"/>
            </a:endParaRPr>
          </a:p>
          <a:p>
            <a:pPr/>
            <a:r>
              <a:t>Common Units</a:t>
            </a:r>
          </a:p>
        </p:txBody>
      </p:sp>
      <p:graphicFrame>
        <p:nvGraphicFramePr>
          <p:cNvPr id="443" name="Table 1"/>
          <p:cNvGraphicFramePr/>
          <p:nvPr/>
        </p:nvGraphicFramePr>
        <p:xfrm>
          <a:off x="6460129" y="7111023"/>
          <a:ext cx="10179370" cy="508685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090411"/>
                <a:gridCol w="6076258"/>
              </a:tblGrid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Unit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Meaning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px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Fixed size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%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Relative to container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Fraction of available space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auto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Based on content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min-content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Smallest content size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2487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max-content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Largest content size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Repeat Function (Clean &amp; Scalable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Repeat Function (Clean &amp; Scalable)</a:t>
            </a:r>
          </a:p>
        </p:txBody>
      </p:sp>
      <p:sp>
        <p:nvSpPr>
          <p:cNvPr id="446" name="Syntax: grid-template-columns: repeat(3, 1fr);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grid-template-columns: repeat(3, 1fr);</a:t>
            </a:r>
          </a:p>
          <a:p>
            <a:pPr/>
            <a:r>
              <a:t>Meaning</a:t>
            </a:r>
          </a:p>
          <a:p>
            <a:pPr lvl="1"/>
            <a:r>
              <a:t>Creates </a:t>
            </a:r>
            <a:r>
              <a:t>3 equal columns</a:t>
            </a:r>
          </a:p>
          <a:p>
            <a:pPr lvl="1"/>
            <a:r>
              <a:t>Cleaner than writing 1fr 1fr 1fr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ap Between Rows &amp; Column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Gap Between Rows &amp; Columns </a:t>
            </a:r>
          </a:p>
        </p:txBody>
      </p:sp>
      <p:sp>
        <p:nvSpPr>
          <p:cNvPr id="449" name="Syntax: .container {   gap: 16px; } or row-gap: 10px; column-gap: 20px;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.container {</a:t>
            </a:r>
            <a:br/>
            <a:r>
              <a:t>  gap: 16px;</a:t>
            </a:r>
            <a:br/>
            <a:r>
              <a:t>}</a:t>
            </a:r>
            <a:br/>
            <a:r>
              <a:t>or</a:t>
            </a:r>
            <a:br/>
            <a:r>
              <a:t>row-gap: 10px;</a:t>
            </a:r>
            <a:br/>
            <a:r>
              <a:t>column-gap: 20px;</a:t>
            </a:r>
          </a:p>
          <a:p>
            <a:pPr/>
            <a:r>
              <a:t>Meaning</a:t>
            </a:r>
          </a:p>
          <a:p>
            <a:pPr lvl="1"/>
            <a:r>
              <a:t>S</a:t>
            </a:r>
            <a:r>
              <a:t>pace between grid cells</a:t>
            </a:r>
          </a:p>
          <a:p>
            <a:pPr lvl="1"/>
            <a:r>
              <a:t>Preferred over margins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rid Template (Rows + Columns Together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94559">
              <a:defRPr spc="-90" sz="9000"/>
            </a:lvl1pPr>
          </a:lstStyle>
          <a:p>
            <a:pPr/>
            <a:r>
              <a:t>Grid Template (Rows + Columns Together)</a:t>
            </a:r>
          </a:p>
        </p:txBody>
      </p:sp>
      <p:sp>
        <p:nvSpPr>
          <p:cNvPr id="452" name="Syntax: .container {   grid-template:     &quot;header header&quot; 60px     &quot;sidebar main&quot;  1fr     &quot;footer footer&quot; 80px     / 250px 1fr; }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.container {</a:t>
            </a:r>
            <a:br/>
            <a:r>
              <a:t>  grid-template:</a:t>
            </a:r>
            <a:br/>
            <a:r>
              <a:t>    "header header" 60px</a:t>
            </a:r>
            <a:br/>
            <a:r>
              <a:t>    "sidebar main"  1fr</a:t>
            </a:r>
            <a:br/>
            <a:r>
              <a:t>    "footer footer" 80px</a:t>
            </a:r>
            <a:br/>
            <a:r>
              <a:t>    / 250px 1fr;</a:t>
            </a:r>
            <a:br/>
            <a:r>
              <a:t>}</a:t>
            </a:r>
          </a:p>
          <a:p>
            <a:pPr/>
            <a:r>
              <a:t>Meaning</a:t>
            </a:r>
          </a:p>
          <a:p>
            <a:pPr lvl="1"/>
            <a:r>
              <a:t>D</a:t>
            </a:r>
            <a:r>
              <a:t>efines </a:t>
            </a:r>
            <a:r>
              <a:t>layout + size in one block</a:t>
            </a:r>
          </a:p>
          <a:p>
            <a:pPr lvl="1"/>
            <a:r>
              <a:t>Very readable and interview-friendly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rid Areas (Naming Sections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Grid Areas (Naming Sections)</a:t>
            </a:r>
          </a:p>
        </p:txBody>
      </p:sp>
      <p:sp>
        <p:nvSpPr>
          <p:cNvPr id="455" name="Container: .container {   display: grid;   grid-template-areas:     &quot;nav nav&quot;     &quot;side main&quot;     &quot;footer footer&quot;; }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 marL="324611" indent="-324611" defTabSz="252475">
              <a:spcBef>
                <a:spcPts val="3300"/>
              </a:spcBef>
              <a:defRPr sz="2840"/>
            </a:pPr>
            <a:r>
              <a:t>Container:</a:t>
            </a:r>
            <a:br/>
            <a:r>
              <a:t>.container {</a:t>
            </a:r>
            <a:br/>
            <a:r>
              <a:t>  display: grid;</a:t>
            </a:r>
            <a:br/>
            <a:r>
              <a:t>  grid-template-areas:</a:t>
            </a:r>
            <a:br/>
            <a:r>
              <a:t>    "nav nav"</a:t>
            </a:r>
            <a:br/>
            <a:r>
              <a:t>    "side main"</a:t>
            </a:r>
            <a:br/>
            <a:r>
              <a:t>    "footer footer";</a:t>
            </a:r>
            <a:br/>
            <a:r>
              <a:t>}</a:t>
            </a:r>
          </a:p>
          <a:p>
            <a:pPr marL="324611" indent="-324611" defTabSz="252475">
              <a:spcBef>
                <a:spcPts val="3300"/>
              </a:spcBef>
              <a:defRPr sz="2840"/>
            </a:pPr>
            <a:r>
              <a:t>Items</a:t>
            </a:r>
            <a:br/>
            <a:r>
              <a:t>.nav { grid-area: nav; }</a:t>
            </a:r>
            <a:br/>
            <a:r>
              <a:t>.side { grid-area: side; }</a:t>
            </a:r>
            <a:br/>
            <a:r>
              <a:t>.main { grid-area: main; }</a:t>
            </a:r>
            <a:br/>
            <a:r>
              <a:t>.footer { grid-area: footer; }</a:t>
            </a:r>
          </a:p>
          <a:p>
            <a:pPr marL="324611" indent="-324611" defTabSz="252475">
              <a:spcBef>
                <a:spcPts val="3300"/>
              </a:spcBef>
              <a:defRPr sz="2840"/>
            </a:pPr>
            <a:r>
              <a:t>Meaning</a:t>
            </a:r>
          </a:p>
          <a:p>
            <a:pPr lvl="1" marL="649223" indent="-324611" defTabSz="252475">
              <a:spcBef>
                <a:spcPts val="3300"/>
              </a:spcBef>
              <a:defRPr sz="2840"/>
            </a:pPr>
            <a:r>
              <a:t>Layout becomes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semantic</a:t>
            </a:r>
            <a:endParaRPr b="1">
              <a:latin typeface="Avenir Next Regular"/>
              <a:ea typeface="Avenir Next Regular"/>
              <a:cs typeface="Avenir Next Regular"/>
              <a:sym typeface="Avenir Next Regular"/>
            </a:endParaRPr>
          </a:p>
          <a:p>
            <a:pPr lvl="1" marL="649223" indent="-324611" defTabSz="252475">
              <a:spcBef>
                <a:spcPts val="3300"/>
              </a:spcBef>
              <a:defRPr sz="2840"/>
            </a:pPr>
            <a:r>
              <a:t>Excellent for dashboards and pages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Auto-Fill vs Auto-Fit (Frequently Asked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Auto-Fill vs Auto-Fit (Frequently Asked)</a:t>
            </a:r>
          </a:p>
        </p:txBody>
      </p:sp>
      <p:sp>
        <p:nvSpPr>
          <p:cNvPr id="458" name="Syntax: grid-template-columns: repeat(auto-fit, minmax(250px, 1fr));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grid-template-columns: repeat(auto-fit, minmax(250px, 1fr));</a:t>
            </a:r>
          </a:p>
          <a:p>
            <a:pPr/>
            <a:r>
              <a:t>auto-fill</a:t>
            </a:r>
            <a:br>
              <a:rPr sz="1200">
                <a:latin typeface="Times Roman"/>
                <a:ea typeface="Times Roman"/>
                <a:cs typeface="Times Roman"/>
                <a:sym typeface="Times Roman"/>
              </a:rPr>
            </a:br>
            <a:r>
              <a:t>Keeps empty columns</a:t>
            </a:r>
          </a:p>
          <a:p>
            <a:pPr/>
            <a:r>
              <a:t>auto-fit</a:t>
            </a:r>
            <a:br>
              <a:rPr sz="1200">
                <a:latin typeface="Times Roman"/>
                <a:ea typeface="Times Roman"/>
                <a:cs typeface="Times Roman"/>
                <a:sym typeface="Times Roman"/>
              </a:rPr>
            </a:br>
            <a:r>
              <a:t>Collapses unused columns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Minimum &amp; Maximum Track Siz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Minimum &amp; Maximum Track Size</a:t>
            </a:r>
          </a:p>
        </p:txBody>
      </p:sp>
      <p:sp>
        <p:nvSpPr>
          <p:cNvPr id="461" name="Syntax: grid-template-columns: minmax(200px, 1fr);…"/>
          <p:cNvSpPr txBox="1"/>
          <p:nvPr>
            <p:ph type="body" idx="1"/>
          </p:nvPr>
        </p:nvSpPr>
        <p:spPr>
          <a:xfrm>
            <a:off x="1206500" y="3032329"/>
            <a:ext cx="21971000" cy="9472187"/>
          </a:xfrm>
          <a:prstGeom prst="rect">
            <a:avLst/>
          </a:prstGeom>
        </p:spPr>
        <p:txBody>
          <a:bodyPr/>
          <a:lstStyle/>
          <a:p>
            <a:pPr/>
            <a:r>
              <a:t>Syntax:</a:t>
            </a:r>
            <a:br/>
            <a:r>
              <a:t>grid-template-columns: minmax(200px, 1fr);</a:t>
            </a:r>
          </a:p>
          <a:p>
            <a:pPr/>
            <a:r>
              <a:t>Meaning</a:t>
            </a:r>
          </a:p>
          <a:p>
            <a:pPr lvl="1"/>
            <a:r>
              <a:t>Column never smaller than 200px</a:t>
            </a:r>
          </a:p>
          <a:p>
            <a:pPr lvl="1"/>
            <a:r>
              <a:t>Grows when space is available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3" name="Table 1"/>
          <p:cNvGraphicFramePr/>
          <p:nvPr/>
        </p:nvGraphicFramePr>
        <p:xfrm>
          <a:off x="1315877" y="1547897"/>
          <a:ext cx="21677756" cy="108482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255424"/>
                <a:gridCol w="14409629"/>
              </a:tblGrid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b="1"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Requirement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b="1"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Syntax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Enable grid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display: grid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Define columns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grid-template-columns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Define rows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grid-template-rows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Equal columns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repeat(n, 1fr)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Flexible sizing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fr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Responsive grid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auto-fit + minmax()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Spacing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gap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Page layout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grid-template-areas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Fixed + fluid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px + fr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985052"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Min/max control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2438338">
                        <a:defRPr sz="1800"/>
                      </a:pPr>
                      <a:r>
                        <a:rPr sz="24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</a:rPr>
                        <a:t>minmax()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19359" y="1169904"/>
            <a:ext cx="21652826" cy="113761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00-basic-terminology.svg" descr="00-basic-terminology.sv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12972" y="2123911"/>
            <a:ext cx="20158056" cy="94681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81736" y="851505"/>
            <a:ext cx="5150264" cy="120129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51350" y="3651250"/>
            <a:ext cx="15481300" cy="64135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08952" y="1026654"/>
            <a:ext cx="18566096" cy="116626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Apply media queries and custom breakpoints for responsive layout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43327">
              <a:defRPr spc="-110" sz="11040"/>
            </a:lvl1pPr>
          </a:lstStyle>
          <a:p>
            <a:pPr/>
            <a:r>
              <a:t>Apply media queries and custom breakpoints for responsive layouts.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What Does “Applying Media Queries” Really Mean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1828800">
              <a:defRPr spc="-75" sz="7500"/>
            </a:lvl1pPr>
          </a:lstStyle>
          <a:p>
            <a:pPr/>
            <a:r>
              <a:t>What Does “Applying Media Queries” Really Mean?</a:t>
            </a:r>
          </a:p>
        </p:txBody>
      </p:sp>
      <p:sp>
        <p:nvSpPr>
          <p:cNvPr id="478" name="Applying media queries does not mean writing CSS for different devices which means actively adapting layout behavior when environmental constraints change.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 marL="420623" indent="-420623" defTabSz="327152">
              <a:spcBef>
                <a:spcPts val="4300"/>
              </a:spcBef>
              <a:defRPr sz="3680"/>
            </a:pPr>
            <a:r>
              <a:t>Applying media queries does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not</a:t>
            </a:r>
            <a:r>
              <a:t> mean writing CSS for different devices which means actively adapting layout behavior when environmental constraints change.</a:t>
            </a:r>
          </a:p>
          <a:p>
            <a:pPr marL="420623" indent="-420623" defTabSz="327152">
              <a:spcBef>
                <a:spcPts val="4300"/>
              </a:spcBef>
              <a:defRPr sz="3680"/>
            </a:pPr>
            <a:r>
              <a:t>Those constraints include: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Available horizontal space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Vertical space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Interaction comfort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Readability</a:t>
            </a:r>
          </a:p>
          <a:p>
            <a:pPr lvl="1" marL="841247" indent="-420623" defTabSz="327152">
              <a:spcBef>
                <a:spcPts val="4300"/>
              </a:spcBef>
              <a:defRPr sz="3680"/>
            </a:pPr>
            <a:r>
              <a:t>Visual hierarchy</a:t>
            </a:r>
          </a:p>
          <a:p>
            <a:pPr marL="420623" indent="-420623" defTabSz="327152">
              <a:spcBef>
                <a:spcPts val="4300"/>
              </a:spcBef>
              <a:defRPr sz="3680"/>
            </a:pPr>
            <a:r>
              <a:t>Media queries are the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decision layer</a:t>
            </a:r>
            <a:r>
              <a:t> of responsive design.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What Is a Breakpoint (Conceptually)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What Is a Breakpoint (Conceptually)?</a:t>
            </a:r>
          </a:p>
        </p:txBody>
      </p:sp>
      <p:sp>
        <p:nvSpPr>
          <p:cNvPr id="481" name="A breakpoint is a point of layout instability.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/>
            <a:r>
              <a:t>A breakpoint is a point of layout instability.</a:t>
            </a:r>
          </a:p>
          <a:p>
            <a:pPr/>
            <a:r>
              <a:t>It exists where:</a:t>
            </a:r>
          </a:p>
          <a:p>
            <a:pPr lvl="1"/>
            <a:r>
              <a:t>Content stops fitting naturally</a:t>
            </a:r>
          </a:p>
          <a:p>
            <a:pPr lvl="1"/>
            <a:r>
              <a:t>Alignment breaks</a:t>
            </a:r>
          </a:p>
          <a:p>
            <a:pPr lvl="1"/>
            <a:r>
              <a:t>Text becomes cramped</a:t>
            </a:r>
          </a:p>
          <a:p>
            <a:pPr lvl="1"/>
            <a:r>
              <a:t>Interaction targets become uncomfortable</a:t>
            </a:r>
          </a:p>
          <a:p>
            <a:pPr/>
            <a:r>
              <a:t>Breakpoints are content-driven, not device-driven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Why Custom Breakpoints Are Necessary?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218944">
              <a:defRPr spc="-91" sz="9100"/>
            </a:lvl1pPr>
          </a:lstStyle>
          <a:p>
            <a:pPr/>
            <a:r>
              <a:t>Why Custom Breakpoints Are Necessary?</a:t>
            </a:r>
          </a:p>
        </p:txBody>
      </p:sp>
      <p:sp>
        <p:nvSpPr>
          <p:cNvPr id="484" name="Predefined breakpoints (Bootstrap, Tailwind):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 marL="438911" indent="-438911" defTabSz="341375">
              <a:spcBef>
                <a:spcPts val="4500"/>
              </a:spcBef>
              <a:defRPr sz="3839"/>
            </a:pPr>
            <a:r>
              <a:t>Predefined breakpoints (Bootstrap, Tailwind):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Assume generic content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Ignore text length, language, data density</a:t>
            </a:r>
          </a:p>
          <a:p>
            <a:pPr lvl="1" marL="570585" indent="-131673" defTabSz="438911">
              <a:spcBef>
                <a:spcPts val="1100"/>
              </a:spcBef>
              <a:defRPr sz="1152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Custom breakpoints::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Respond to </a:t>
            </a:r>
            <a:r>
              <a:rPr i="1">
                <a:latin typeface="Graphik"/>
                <a:ea typeface="Graphik"/>
                <a:cs typeface="Graphik"/>
                <a:sym typeface="Graphik"/>
              </a:rPr>
              <a:t>your</a:t>
            </a:r>
            <a:r>
              <a:t> layout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Preserve usability</a:t>
            </a:r>
          </a:p>
          <a:p>
            <a:pPr lvl="1" marL="877823" indent="-438911" defTabSz="341375">
              <a:spcBef>
                <a:spcPts val="4500"/>
              </a:spcBef>
              <a:defRPr sz="3839"/>
            </a:pPr>
            <a:r>
              <a:t>Reduce hacks</a:t>
            </a:r>
          </a:p>
          <a:p>
            <a:pPr marL="438911" indent="-438911" defTabSz="341375">
              <a:spcBef>
                <a:spcPts val="4500"/>
              </a:spcBef>
              <a:defRPr sz="3839"/>
            </a:pPr>
            <a:r>
              <a:t>That means 980px is your breakpoint, not 1024px.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Media Queries as Layout Strategy Switche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145791">
              <a:defRPr spc="-88" sz="8800"/>
            </a:lvl1pPr>
          </a:lstStyle>
          <a:p>
            <a:pPr/>
            <a:r>
              <a:t>Media Queries as Layout Strategy Switches</a:t>
            </a:r>
          </a:p>
        </p:txBody>
      </p:sp>
      <p:sp>
        <p:nvSpPr>
          <p:cNvPr id="487" name="Think of media queries as layout strategy toggles, not styling tweaks.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/>
            <a:r>
              <a:t>Think of media queries as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layout strategy toggles</a:t>
            </a:r>
            <a:r>
              <a:t>, not styling tweaks.</a:t>
            </a:r>
          </a:p>
          <a:p>
            <a:pPr/>
            <a:r>
              <a:t>This is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structural adaptation</a:t>
            </a:r>
            <a:r>
              <a:t>, not cosmetic change.</a:t>
            </a:r>
          </a:p>
          <a:p>
            <a:pPr/>
            <a:r>
              <a:t>At breakpoints, layouts usually switch between:</a:t>
            </a:r>
          </a:p>
        </p:txBody>
      </p:sp>
      <p:graphicFrame>
        <p:nvGraphicFramePr>
          <p:cNvPr id="488" name="Table 1"/>
          <p:cNvGraphicFramePr/>
          <p:nvPr/>
        </p:nvGraphicFramePr>
        <p:xfrm>
          <a:off x="4433277" y="6550006"/>
          <a:ext cx="11745847" cy="554764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073731"/>
                <a:gridCol w="5659415"/>
              </a:tblGrid>
              <a:tr h="110698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Before Breakpoint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b="1"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After Breakpoint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698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Horizontal →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Vertical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698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Multi-column →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Fewer columns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698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Persistent menu →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Collapsible menu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6989"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Dense UI →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355600">
                        <a:spcBef>
                          <a:spcPts val="4700"/>
                        </a:spcBef>
                        <a:defRPr sz="1800"/>
                      </a:pPr>
                      <a:r>
                        <a:rPr sz="4000">
                          <a:solidFill>
                            <a:schemeClr val="accent1">
                              <a:satOff val="-9155"/>
                              <a:lumOff val="-32673"/>
                            </a:schemeClr>
                          </a:solidFill>
                          <a:latin typeface="Graphik Light"/>
                          <a:ea typeface="Graphik Light"/>
                          <a:cs typeface="Graphik Light"/>
                          <a:sym typeface="Graphik Light"/>
                        </a:rPr>
                        <a:t>Spacious UI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Mobile-First vs Desktop-First (Theory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Mobile-First vs Desktop-First (Theory)</a:t>
            </a:r>
          </a:p>
        </p:txBody>
      </p:sp>
      <p:sp>
        <p:nvSpPr>
          <p:cNvPr id="491" name="Mobile-First (Modern Standard)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Mobile-First (Modern Standard)</a:t>
            </a:r>
          </a:p>
          <a:p>
            <a:pPr lvl="1"/>
            <a:r>
              <a:t>Default: least space</a:t>
            </a:r>
          </a:p>
          <a:p>
            <a:pPr lvl="1"/>
            <a:r>
              <a:t>Enhancements added as space increases</a:t>
            </a:r>
          </a:p>
          <a:p>
            <a:pPr lvl="1"/>
            <a:r>
              <a:t>Forces prioritization</a:t>
            </a:r>
          </a:p>
          <a:p>
            <a:pPr lvl="1"/>
            <a:r>
              <a:t>Conceptually:</a:t>
            </a:r>
          </a:p>
          <a:p>
            <a:pPr lvl="2"/>
            <a:r>
              <a:t>Design for constraint first, then progressively enhance.”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Mobile-First vs Desktop-First (Theory)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Mobile-First vs Desktop-First (Theory)</a:t>
            </a:r>
          </a:p>
        </p:txBody>
      </p:sp>
      <p:sp>
        <p:nvSpPr>
          <p:cNvPr id="494" name="Desktop-First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r>
              <a:t>Desktop-First</a:t>
            </a:r>
          </a:p>
          <a:p>
            <a:pPr lvl="1"/>
            <a:r>
              <a:t>Starts with abundance</a:t>
            </a:r>
          </a:p>
          <a:p>
            <a:pPr lvl="1"/>
            <a:r>
              <a:t>Removes features later</a:t>
            </a:r>
          </a:p>
          <a:p>
            <a:pPr lvl="1"/>
            <a:r>
              <a:t>Often leads to fragile designs</a:t>
            </a:r>
          </a:p>
          <a:p>
            <a:pPr lvl="1" marL="0" indent="457200">
              <a:buSzTx/>
              <a:buNone/>
              <a:defRPr b="1"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  <a:br/>
            <a:br/>
            <a:r>
              <a:t>Mobile-first is preferred because it aligns with progressive enhancement.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Breakpoints Are About Human Factor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16479">
              <a:defRPr spc="-95" sz="9500"/>
            </a:lvl1pPr>
          </a:lstStyle>
          <a:p>
            <a:pPr/>
            <a:r>
              <a:t>Breakpoints Are About Human Factors</a:t>
            </a:r>
          </a:p>
        </p:txBody>
      </p:sp>
      <p:sp>
        <p:nvSpPr>
          <p:cNvPr id="497" name="Breakpoints exist to protect:…"/>
          <p:cNvSpPr txBox="1"/>
          <p:nvPr>
            <p:ph type="body" idx="1"/>
          </p:nvPr>
        </p:nvSpPr>
        <p:spPr>
          <a:xfrm>
            <a:off x="1206500" y="2935294"/>
            <a:ext cx="21971000" cy="9569222"/>
          </a:xfrm>
          <a:prstGeom prst="rect">
            <a:avLst/>
          </a:prstGeom>
        </p:spPr>
        <p:txBody>
          <a:bodyPr/>
          <a:lstStyle/>
          <a:p>
            <a:pPr/>
            <a:r>
              <a:t>Breakpoints exist to protect:</a:t>
            </a:r>
          </a:p>
          <a:p>
            <a:pPr lvl="1"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Readability</a:t>
            </a:r>
            <a:r>
              <a:t> (line length, spacing)</a:t>
            </a:r>
          </a:p>
          <a:p>
            <a:pPr lvl="1"/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Scanability</a:t>
            </a:r>
            <a:r>
              <a:t> (visual grouping)</a:t>
            </a:r>
          </a:p>
          <a:p>
            <a:pPr lvl="1"/>
            <a:r>
              <a:t>Touch accuracy</a:t>
            </a:r>
          </a:p>
          <a:p>
            <a:pPr lvl="1"/>
            <a:r>
              <a:t>Cognitive load</a:t>
            </a:r>
          </a:p>
          <a:p>
            <a:pPr/>
            <a:r>
              <a:t>They are a </a:t>
            </a:r>
            <a:r>
              <a:rPr b="1">
                <a:latin typeface="Avenir Next Regular"/>
                <a:ea typeface="Avenir Next Regular"/>
                <a:cs typeface="Avenir Next Regular"/>
                <a:sym typeface="Avenir Next Regular"/>
              </a:rPr>
              <a:t>UX decision</a:t>
            </a:r>
            <a:r>
              <a:t>, not a CSS decision.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